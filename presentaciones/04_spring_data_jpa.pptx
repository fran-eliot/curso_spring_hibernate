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"/>
  </p:notesMasterIdLst>
  <p:sldIdLst>
    <p:sldId id="256" r:id="rId2"/>
    <p:sldId id="270" r:id="rId3"/>
    <p:sldId id="271" r:id="rId4"/>
    <p:sldId id="272" r:id="rId5"/>
    <p:sldId id="273" r:id="rId6"/>
    <p:sldId id="274" r:id="rId7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50B9B-B9C6-489C-ABBD-A17A0FA25196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8A3C0-D290-4770-B0B3-CA759B633CD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3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4</a:t>
            </a:fld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5</a:t>
            </a:fld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8A3C0-D290-4770-B0B3-CA759B633CDD}" type="slidenum">
              <a:rPr lang="es-ES" smtClean="0"/>
              <a:pPr/>
              <a:t>6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Cheurón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 rot="19297622">
            <a:off x="1082302" y="1988842"/>
            <a:ext cx="6696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 smtClean="0">
                <a:solidFill>
                  <a:srgbClr val="E6E6E6"/>
                </a:solidFill>
              </a:rPr>
              <a:t>Antonio Martín Sierra</a:t>
            </a:r>
            <a:endParaRPr lang="es-ES" sz="4800" dirty="0">
              <a:solidFill>
                <a:srgbClr val="E6E6E6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23/02/2026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Spring Data JPA</a:t>
            </a:r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Spring Data JPA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539552" y="987574"/>
            <a:ext cx="8280920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Elimina el código de acceso a los datos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Definición de una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subinterfaz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JpaRepository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, que proporciona métodos CRUD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1142976" y="2928940"/>
            <a:ext cx="5544616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err="1" smtClean="0"/>
              <a:t>public</a:t>
            </a:r>
            <a:r>
              <a:rPr lang="es-ES" sz="1000" dirty="0" smtClean="0"/>
              <a:t> interface </a:t>
            </a:r>
            <a:r>
              <a:rPr lang="es-ES" sz="1000" dirty="0" err="1" smtClean="0"/>
              <a:t>AgendaSpringDao</a:t>
            </a:r>
            <a:r>
              <a:rPr lang="es-ES" sz="1000" dirty="0" smtClean="0"/>
              <a:t> </a:t>
            </a:r>
            <a:r>
              <a:rPr lang="es-ES" sz="1000" dirty="0" err="1" smtClean="0"/>
              <a:t>extends</a:t>
            </a:r>
            <a:r>
              <a:rPr lang="es-ES" sz="1000" dirty="0" smtClean="0"/>
              <a:t> </a:t>
            </a:r>
            <a:r>
              <a:rPr lang="es-ES" sz="1000" dirty="0" err="1" smtClean="0"/>
              <a:t>JpaRepository</a:t>
            </a:r>
            <a:r>
              <a:rPr lang="es-ES" sz="1000" dirty="0" smtClean="0"/>
              <a:t>&lt;Contacto, </a:t>
            </a:r>
            <a:r>
              <a:rPr lang="es-ES" sz="1000" dirty="0" err="1" smtClean="0"/>
              <a:t>Integer</a:t>
            </a:r>
            <a:r>
              <a:rPr lang="es-ES" sz="1000" dirty="0" smtClean="0"/>
              <a:t>&gt;{</a:t>
            </a:r>
          </a:p>
          <a:p>
            <a:endParaRPr lang="es-ES" sz="1000" dirty="0" smtClean="0"/>
          </a:p>
          <a:p>
            <a:r>
              <a:rPr lang="es-ES" sz="1000" dirty="0" smtClean="0"/>
              <a:t>     …</a:t>
            </a:r>
          </a:p>
          <a:p>
            <a:r>
              <a:rPr lang="es-ES" sz="1000" dirty="0" smtClean="0"/>
              <a:t>}</a:t>
            </a:r>
            <a:endParaRPr lang="es-ES" sz="1000" dirty="0"/>
          </a:p>
        </p:txBody>
      </p:sp>
      <p:cxnSp>
        <p:nvCxnSpPr>
          <p:cNvPr id="14" name="13 Conector recto de flecha"/>
          <p:cNvCxnSpPr/>
          <p:nvPr/>
        </p:nvCxnSpPr>
        <p:spPr>
          <a:xfrm flipH="1">
            <a:off x="5004048" y="2643758"/>
            <a:ext cx="72008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/>
          <p:nvPr/>
        </p:nvCxnSpPr>
        <p:spPr>
          <a:xfrm flipH="1">
            <a:off x="5652120" y="2643758"/>
            <a:ext cx="14401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CuadroTexto"/>
          <p:cNvSpPr txBox="1"/>
          <p:nvPr/>
        </p:nvSpPr>
        <p:spPr>
          <a:xfrm>
            <a:off x="4716016" y="213970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Tipo entidad</a:t>
            </a:r>
            <a:endParaRPr lang="es-ES" sz="14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5652120" y="2139702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Tipo clave primaria</a:t>
            </a:r>
            <a:endParaRPr lang="es-ES" sz="1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JpaRepository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915566"/>
            <a:ext cx="7128792" cy="397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Abrir llave"/>
          <p:cNvSpPr/>
          <p:nvPr/>
        </p:nvSpPr>
        <p:spPr>
          <a:xfrm>
            <a:off x="1475656" y="1635646"/>
            <a:ext cx="216024" cy="18722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CuadroTexto"/>
          <p:cNvSpPr txBox="1"/>
          <p:nvPr/>
        </p:nvSpPr>
        <p:spPr>
          <a:xfrm>
            <a:off x="179512" y="2211710"/>
            <a:ext cx="13681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Métodos</a:t>
            </a:r>
          </a:p>
          <a:p>
            <a:r>
              <a:rPr lang="es-ES" sz="1400" dirty="0" smtClean="0"/>
              <a:t>específicos </a:t>
            </a:r>
            <a:r>
              <a:rPr lang="es-ES" sz="1400" dirty="0" err="1" smtClean="0"/>
              <a:t>JpaRepository</a:t>
            </a:r>
            <a:endParaRPr lang="es-ES" sz="1400" dirty="0"/>
          </a:p>
        </p:txBody>
      </p:sp>
      <p:sp>
        <p:nvSpPr>
          <p:cNvPr id="13" name="12 Abrir llave"/>
          <p:cNvSpPr/>
          <p:nvPr/>
        </p:nvSpPr>
        <p:spPr>
          <a:xfrm>
            <a:off x="1475656" y="3651870"/>
            <a:ext cx="216024" cy="11521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395536" y="3939902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Métodos heredados</a:t>
            </a:r>
            <a:endParaRPr lang="es-E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Métodos </a:t>
            </a: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JpaRepository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539552" y="987574"/>
            <a:ext cx="8280920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Entre los principales métodos 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JpaRepository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save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(T entidad). Salva la entidad en la unidad de persistencia, si la entidad ya existe la actualiza. Devuelve la propia entidad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Optional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&lt;T&gt;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findById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(ID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). Devuelve la entidad a partir de su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key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, envuelta en un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Optional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List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&lt;T&gt;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findAll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Recupera todas las entidades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void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deleteById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(ID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). Elimina la entidad a partir de su clave primaria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323528" y="123478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Métodos específicos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539552" y="987574"/>
            <a:ext cx="8280920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Spring implementa automáticamente métodos, a partir del nombre del mismo o instrucción JPQL: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2987824" y="1923678"/>
            <a:ext cx="554461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1000" dirty="0" err="1" smtClean="0"/>
              <a:t>public</a:t>
            </a:r>
            <a:r>
              <a:rPr lang="es-ES" sz="1000" dirty="0" smtClean="0"/>
              <a:t> interface </a:t>
            </a:r>
            <a:r>
              <a:rPr lang="es-ES" sz="1000" dirty="0" err="1" smtClean="0"/>
              <a:t>AgendaSpringDao</a:t>
            </a:r>
            <a:r>
              <a:rPr lang="es-ES" sz="1000" dirty="0" smtClean="0"/>
              <a:t> </a:t>
            </a:r>
            <a:r>
              <a:rPr lang="es-ES" sz="1000" dirty="0" err="1" smtClean="0"/>
              <a:t>extends</a:t>
            </a:r>
            <a:r>
              <a:rPr lang="es-ES" sz="1000" dirty="0" smtClean="0"/>
              <a:t> </a:t>
            </a:r>
            <a:r>
              <a:rPr lang="es-ES" sz="1000" dirty="0" err="1" smtClean="0"/>
              <a:t>JpaRepository</a:t>
            </a:r>
            <a:r>
              <a:rPr lang="es-ES" sz="1000" dirty="0" smtClean="0"/>
              <a:t>&lt;Contacto, </a:t>
            </a:r>
            <a:r>
              <a:rPr lang="es-ES" sz="1000" dirty="0" err="1" smtClean="0"/>
              <a:t>Integer</a:t>
            </a:r>
            <a:r>
              <a:rPr lang="es-ES" sz="1000" dirty="0" smtClean="0"/>
              <a:t>&gt;{</a:t>
            </a:r>
          </a:p>
          <a:p>
            <a:endParaRPr lang="es-ES" sz="1000" dirty="0" smtClean="0"/>
          </a:p>
          <a:p>
            <a:r>
              <a:rPr lang="es-ES" sz="1000" dirty="0" smtClean="0"/>
              <a:t>     Contacto </a:t>
            </a:r>
            <a:r>
              <a:rPr lang="es-ES" sz="1000" dirty="0" err="1" smtClean="0"/>
              <a:t>findByEmail</a:t>
            </a:r>
            <a:r>
              <a:rPr lang="es-ES" sz="1000" dirty="0" smtClean="0"/>
              <a:t>(</a:t>
            </a:r>
            <a:r>
              <a:rPr lang="es-ES" sz="1000" dirty="0" err="1" smtClean="0"/>
              <a:t>String</a:t>
            </a:r>
            <a:r>
              <a:rPr lang="es-ES" sz="1000" dirty="0" smtClean="0"/>
              <a:t> email);</a:t>
            </a:r>
          </a:p>
          <a:p>
            <a:endParaRPr lang="es-ES" sz="1000" dirty="0" smtClean="0"/>
          </a:p>
          <a:p>
            <a:r>
              <a:rPr lang="en-US" sz="1000" dirty="0" smtClean="0"/>
              <a:t>     @Query("Select c from </a:t>
            </a:r>
            <a:r>
              <a:rPr lang="en-US" sz="1000" dirty="0" err="1" smtClean="0"/>
              <a:t>Contacto</a:t>
            </a:r>
            <a:r>
              <a:rPr lang="en-US" sz="1000" dirty="0" smtClean="0"/>
              <a:t> c Where </a:t>
            </a:r>
            <a:r>
              <a:rPr lang="en-US" sz="1000" dirty="0" err="1" smtClean="0"/>
              <a:t>c.edad</a:t>
            </a:r>
            <a:r>
              <a:rPr lang="en-US" sz="1000" dirty="0" smtClean="0"/>
              <a:t>&lt;=?1")</a:t>
            </a:r>
          </a:p>
          <a:p>
            <a:r>
              <a:rPr lang="es-ES" sz="1000" dirty="0" smtClean="0"/>
              <a:t>     </a:t>
            </a:r>
            <a:r>
              <a:rPr lang="es-ES" sz="1000" dirty="0" err="1" smtClean="0"/>
              <a:t>List</a:t>
            </a:r>
            <a:r>
              <a:rPr lang="es-ES" sz="1000" dirty="0" smtClean="0"/>
              <a:t>&lt;Contacto&gt; </a:t>
            </a:r>
            <a:r>
              <a:rPr lang="es-ES" sz="1000" dirty="0" err="1" smtClean="0"/>
              <a:t>buscarPorEdadMaxima</a:t>
            </a:r>
            <a:r>
              <a:rPr lang="es-ES" sz="1000" dirty="0" smtClean="0"/>
              <a:t>(</a:t>
            </a:r>
            <a:r>
              <a:rPr lang="es-ES" sz="1000" dirty="0" err="1" smtClean="0"/>
              <a:t>int</a:t>
            </a:r>
            <a:r>
              <a:rPr lang="es-ES" sz="1000" dirty="0" smtClean="0"/>
              <a:t> edad);</a:t>
            </a:r>
          </a:p>
          <a:p>
            <a:endParaRPr lang="es-ES" sz="1000" dirty="0" smtClean="0"/>
          </a:p>
          <a:p>
            <a:r>
              <a:rPr lang="es-ES" sz="1000" dirty="0" smtClean="0"/>
              <a:t>     @</a:t>
            </a:r>
            <a:r>
              <a:rPr lang="es-ES" sz="1000" dirty="0" err="1" smtClean="0"/>
              <a:t>Transactional</a:t>
            </a:r>
            <a:endParaRPr lang="es-ES" sz="1000" dirty="0" smtClean="0"/>
          </a:p>
          <a:p>
            <a:r>
              <a:rPr lang="es-ES" sz="1000" dirty="0" smtClean="0"/>
              <a:t>     @</a:t>
            </a:r>
            <a:r>
              <a:rPr lang="es-ES" sz="1000" dirty="0" err="1" smtClean="0"/>
              <a:t>Modifying</a:t>
            </a:r>
            <a:endParaRPr lang="es-ES" sz="1000" dirty="0" smtClean="0"/>
          </a:p>
          <a:p>
            <a:r>
              <a:rPr lang="en-US" sz="1000" dirty="0" smtClean="0"/>
              <a:t>     @Query("Delete from </a:t>
            </a:r>
            <a:r>
              <a:rPr lang="en-US" sz="1000" dirty="0" err="1" smtClean="0"/>
              <a:t>Contacto</a:t>
            </a:r>
            <a:r>
              <a:rPr lang="en-US" sz="1000" dirty="0" smtClean="0"/>
              <a:t> c Where </a:t>
            </a:r>
            <a:r>
              <a:rPr lang="en-US" sz="1000" dirty="0" err="1" smtClean="0"/>
              <a:t>c.email</a:t>
            </a:r>
            <a:r>
              <a:rPr lang="en-US" sz="1000" dirty="0" smtClean="0"/>
              <a:t>=?1")</a:t>
            </a:r>
          </a:p>
          <a:p>
            <a:r>
              <a:rPr lang="es-ES" sz="1000" dirty="0" smtClean="0"/>
              <a:t>     </a:t>
            </a:r>
            <a:r>
              <a:rPr lang="es-ES" sz="1000" dirty="0" err="1" smtClean="0"/>
              <a:t>void</a:t>
            </a:r>
            <a:r>
              <a:rPr lang="es-ES" sz="1000" dirty="0" smtClean="0"/>
              <a:t> </a:t>
            </a:r>
            <a:r>
              <a:rPr lang="es-ES" sz="1000" dirty="0" err="1" smtClean="0"/>
              <a:t>eliminarPorEmail</a:t>
            </a:r>
            <a:r>
              <a:rPr lang="es-ES" sz="1000" dirty="0" smtClean="0"/>
              <a:t>(</a:t>
            </a:r>
            <a:r>
              <a:rPr lang="es-ES" sz="1000" dirty="0" err="1" smtClean="0"/>
              <a:t>String</a:t>
            </a:r>
            <a:r>
              <a:rPr lang="es-ES" sz="1000" dirty="0" smtClean="0"/>
              <a:t> email);</a:t>
            </a:r>
          </a:p>
          <a:p>
            <a:r>
              <a:rPr lang="es-ES" sz="1000" dirty="0" smtClean="0"/>
              <a:t>}</a:t>
            </a:r>
            <a:endParaRPr lang="es-ES" sz="1000" dirty="0"/>
          </a:p>
        </p:txBody>
      </p:sp>
      <p:cxnSp>
        <p:nvCxnSpPr>
          <p:cNvPr id="12" name="11 Conector recto de flecha"/>
          <p:cNvCxnSpPr/>
          <p:nvPr/>
        </p:nvCxnSpPr>
        <p:spPr>
          <a:xfrm flipV="1">
            <a:off x="2123728" y="2355726"/>
            <a:ext cx="115212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683568" y="2211710"/>
            <a:ext cx="15841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Implementación a partir del nombre de método</a:t>
            </a:r>
            <a:endParaRPr lang="es-ES" sz="1000" dirty="0"/>
          </a:p>
        </p:txBody>
      </p:sp>
      <p:cxnSp>
        <p:nvCxnSpPr>
          <p:cNvPr id="15" name="14 Conector recto de flecha"/>
          <p:cNvCxnSpPr/>
          <p:nvPr/>
        </p:nvCxnSpPr>
        <p:spPr>
          <a:xfrm flipV="1">
            <a:off x="2483768" y="2787774"/>
            <a:ext cx="72008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>
            <a:off x="2483768" y="3219822"/>
            <a:ext cx="792088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CuadroTexto"/>
          <p:cNvSpPr txBox="1"/>
          <p:nvPr/>
        </p:nvSpPr>
        <p:spPr>
          <a:xfrm>
            <a:off x="1115616" y="3003798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Implementación a partir de la </a:t>
            </a:r>
            <a:r>
              <a:rPr lang="es-ES" sz="1000" dirty="0" err="1" smtClean="0"/>
              <a:t>query</a:t>
            </a:r>
            <a:endParaRPr lang="es-E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251520" y="33469"/>
            <a:ext cx="8134672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Query</a:t>
            </a:r>
            <a:r>
              <a:rPr kumimoji="0" lang="es-E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s-ES" sz="4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keywords</a:t>
            </a:r>
            <a:endParaRPr kumimoji="0" lang="es-E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" name="1 Título"/>
          <p:cNvSpPr txBox="1">
            <a:spLocks/>
          </p:cNvSpPr>
          <p:nvPr/>
        </p:nvSpPr>
        <p:spPr>
          <a:xfrm>
            <a:off x="179512" y="699542"/>
            <a:ext cx="8784976" cy="18722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trata de palabras reservadas que pueden utilizarse a la hora de definir el nombre de un método autogenerado: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findBy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.. . Se utiliza para buscar entidades por una o varias propiedades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findFirstBy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.. . Utilizado cuando la consulta debe entregar un único resultado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streamBy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.. .Retorna un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Stream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de entidades, mejorando el rendimiento con alto volumen de datos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deleteBy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.. .Para eliminar por alguna propiedad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distinctBy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.. . Recupera entidades que sean distintas por alguna propiedad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existsBy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.. .Devuelve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boolean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indicando si existe entidad por criterio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Se pueden usar además los operadores: And,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Or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Between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IsNot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LessThan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GreaterThan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Like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, In, </a:t>
            </a:r>
            <a:r>
              <a:rPr kumimoji="0" lang="es-E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NotIn</a:t>
            </a: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3707904" y="4866501"/>
            <a:ext cx="32758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findByAgeIn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(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List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&lt;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Integer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&gt; </a:t>
            </a:r>
            <a:r>
              <a:rPr kumimoji="0" lang="es-E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ages</a:t>
            </a:r>
            <a:r>
              <a:rPr kumimoji="0" lang="es-E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31118</TotalTime>
  <Words>337</Words>
  <Application>Microsoft Office PowerPoint</Application>
  <PresentationFormat>Presentación en pantalla (16:9)</PresentationFormat>
  <Paragraphs>53</Paragraphs>
  <Slides>6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Concurrencia</vt:lpstr>
      <vt:lpstr>Spring Data JPA</vt:lpstr>
      <vt:lpstr>Diapositiva 2</vt:lpstr>
      <vt:lpstr>Diapositiva 3</vt:lpstr>
      <vt:lpstr>Diapositiva 4</vt:lpstr>
      <vt:lpstr>Diapositiva 5</vt:lpstr>
      <vt:lpstr>Diapositiva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AngularJS 2</dc:title>
  <dc:creator>antonio martin</dc:creator>
  <cp:lastModifiedBy>Antonio</cp:lastModifiedBy>
  <cp:revision>177</cp:revision>
  <dcterms:created xsi:type="dcterms:W3CDTF">2016-05-07T10:27:15Z</dcterms:created>
  <dcterms:modified xsi:type="dcterms:W3CDTF">2026-02-23T20:27:34Z</dcterms:modified>
</cp:coreProperties>
</file>
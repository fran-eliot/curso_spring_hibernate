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theme/themeOverride21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heme/themeOverride19.xml" ContentType="application/vnd.openxmlformats-officedocument.themeOverride+xml"/>
  <Override PartName="/ppt/slideLayouts/slideLayout10.xml" ContentType="application/vnd.openxmlformats-officedocument.presentationml.slideLayout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theme/themeOverride2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9"/>
  </p:notesMasterIdLst>
  <p:sldIdLst>
    <p:sldId id="256" r:id="rId2"/>
    <p:sldId id="283" r:id="rId3"/>
    <p:sldId id="284" r:id="rId4"/>
    <p:sldId id="285" r:id="rId5"/>
    <p:sldId id="265" r:id="rId6"/>
    <p:sldId id="257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6" r:id="rId16"/>
    <p:sldId id="287" r:id="rId17"/>
    <p:sldId id="288" r:id="rId18"/>
    <p:sldId id="289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50B9B-B9C6-489C-ABBD-A17A0FA25196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8A3C0-D290-4770-B0B3-CA759B633CD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Cheurón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 rot="19297622">
            <a:off x="1082302" y="1988842"/>
            <a:ext cx="6696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 smtClean="0">
                <a:solidFill>
                  <a:srgbClr val="E6E6E6"/>
                </a:solidFill>
              </a:rPr>
              <a:t>Antonio Martín Sierra</a:t>
            </a:r>
            <a:endParaRPr lang="es-ES" sz="4800" dirty="0">
              <a:solidFill>
                <a:srgbClr val="E6E6E6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A847CFC-816F-41D0-AAC0-9BF4FEBC753E}" type="datetimeFigureOut">
              <a:rPr lang="es-ES" smtClean="0"/>
              <a:pPr/>
              <a:t>25/06/2023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Java </a:t>
            </a:r>
            <a:r>
              <a:rPr lang="es-ES" dirty="0" err="1" smtClean="0"/>
              <a:t>Persistence</a:t>
            </a:r>
            <a:r>
              <a:rPr lang="es-ES" dirty="0" smtClean="0"/>
              <a:t> API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¿Qué es una capa de persistencia?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83568" y="1131590"/>
            <a:ext cx="6768752" cy="124213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Los datos son expuestos a la aplicación en forma de objetos (entidades).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 lógica de negocio maneja objetos, no tablas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2486132"/>
            <a:ext cx="4543846" cy="217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Entidades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83568" y="1059582"/>
            <a:ext cx="7848872" cy="124213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Objetos que representan una fila de una tabla de la base de datos.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definen mediante clases tipo JavaBean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Las operaciones sobre una capa de persistencia consisten en crear, modificar, eliminar y recuperar entidades.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Objeto 2"/>
          <p:cNvPicPr>
            <a:picLocks noChangeArrowheads="1"/>
          </p:cNvPicPr>
          <p:nvPr/>
        </p:nvPicPr>
        <p:blipFill>
          <a:blip r:embed="rId3" cstate="print"/>
          <a:srcRect t="-5588" r="-3954" b="-507"/>
          <a:stretch>
            <a:fillRect/>
          </a:stretch>
        </p:blipFill>
        <p:spPr bwMode="auto">
          <a:xfrm>
            <a:off x="2051720" y="1779662"/>
            <a:ext cx="39243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Frameworks</a:t>
            </a:r>
            <a:r>
              <a:rPr lang="es-ES" dirty="0" smtClean="0"/>
              <a:t> de persistencia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11560" y="987574"/>
            <a:ext cx="6408712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Conjunto de utilidades que facilitan la creación y manipulación de una capa de persistencia.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Entre los más populares: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Hibernate</a:t>
            </a: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s-ES" b="1" i="0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Ibatis</a:t>
            </a:r>
            <a:endParaRPr kumimoji="0" lang="es-ES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JPA (no exactamente un framework)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Componentes de un framework de persistencia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Motor de persistencia (mapeo ORM)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Sistema de configuración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API (acceso a la capa de persistencia)</a:t>
            </a: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1"/>
                </a:solidFill>
              </a:rPr>
              <a:t>Fundamentos JPA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1142990"/>
            <a:ext cx="7672936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Especificación Java EE para la creación y gestión de una capa de persistencia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Clases, interfaces y anotaciones definidas en el paquete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javax.persistence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Los principales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frameworks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de persistencia proporcionan una implementación de esta especificación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641958" y="195486"/>
            <a:ext cx="9145016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noProof="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Componentes de JPA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642910" y="928676"/>
            <a:ext cx="7072362" cy="115212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Archivo de configuración persistence.xml: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Define unidades de persistencia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Cada unidad de persistencia indica el motor utilizado, propiedades de conexión a BD y lista de entidades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Conjunto de anotaciones para la configuración de entidades (@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Entity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, @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Table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, @Id,…)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API JPA. Conjunto de clases e interfaces para acceso a la capa de persistencia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214296"/>
            <a:ext cx="8043890" cy="857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 sz="3600" dirty="0" smtClean="0">
                <a:solidFill>
                  <a:schemeClr val="tx1"/>
                </a:solidFill>
              </a:rPr>
              <a:t>Creación de una capa de persistencia</a:t>
            </a: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714348" y="1000114"/>
            <a:ext cx="7170020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Creación de entidades y configuración a través de anotaciones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 de la unidad de persistencia a través del archivo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persistence.xml o mediante clases de configuración Spring: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Proveedor de persistencia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Lista de entidades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Propiedades de conexión a base de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1"/>
                </a:solidFill>
              </a:rPr>
              <a:t>Principales </a:t>
            </a:r>
            <a:r>
              <a:rPr lang="es-ES" dirty="0" smtClean="0">
                <a:solidFill>
                  <a:schemeClr val="tx1"/>
                </a:solidFill>
              </a:rPr>
              <a:t>anotaciones JPA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714348" y="1071552"/>
            <a:ext cx="7643866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@</a:t>
            </a:r>
            <a:r>
              <a:rPr lang="es-ES" sz="2000" b="1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Indica que la clase es una entidad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@</a:t>
            </a:r>
            <a:r>
              <a:rPr lang="es-ES" sz="2000" b="1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Table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Mapea la entidad a una tabla de la base de datos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@</a:t>
            </a:r>
            <a:r>
              <a:rPr lang="es-ES" sz="2000" b="1" i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Indica el atributo que contiene la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key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@</a:t>
            </a:r>
            <a:r>
              <a:rPr lang="es-ES" sz="2000" b="1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Column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 Asocia el atributo con una columna de la tabla. No es necesario si el nombre del atributo coincide con el de la columna.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@</a:t>
            </a:r>
            <a:r>
              <a:rPr lang="es-ES" sz="2000" b="1" i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GeneratedValue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 Indica la estrategia de generación de claves en columnas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key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autogeneradas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Utilización del API JPA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1420"/>
            <a:ext cx="8229600" cy="857250"/>
          </a:xfrm>
        </p:spPr>
        <p:txBody>
          <a:bodyPr/>
          <a:lstStyle/>
          <a:p>
            <a:r>
              <a:rPr lang="es-ES" dirty="0" err="1" smtClean="0"/>
              <a:t>Javadoc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1005576"/>
            <a:ext cx="7601498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Ayuda oficial del API: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Paquete principal: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javax.persistence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" name="33 Rectángulo"/>
          <p:cNvSpPr/>
          <p:nvPr/>
        </p:nvSpPr>
        <p:spPr>
          <a:xfrm>
            <a:off x="571472" y="1406717"/>
            <a:ext cx="84296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https://docs.oracle.com/javaee/7/api/index.html?javax/persistence/package-summary.html</a:t>
            </a:r>
            <a:endParaRPr lang="es-E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2428874"/>
            <a:ext cx="5306932" cy="2423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Rectángulo redondeado"/>
          <p:cNvSpPr/>
          <p:nvPr/>
        </p:nvSpPr>
        <p:spPr>
          <a:xfrm>
            <a:off x="2000232" y="2804598"/>
            <a:ext cx="571504" cy="71438"/>
          </a:xfrm>
          <a:prstGeom prst="roundRect">
            <a:avLst/>
          </a:prstGeom>
          <a:noFill/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Objeto </a:t>
            </a:r>
            <a:r>
              <a:rPr lang="es-ES" dirty="0" err="1" smtClean="0"/>
              <a:t>EntityManager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714348" y="1214428"/>
            <a:ext cx="7530060" cy="864096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  <a:buFont typeface="Wingdings" pitchFamily="2" charset="2"/>
              <a:buChar char="Ø"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Implementa la interfaz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javax.persistence.EntityManager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spcAft>
                <a:spcPts val="1200"/>
              </a:spcAft>
              <a:buFont typeface="Wingdings" pitchFamily="2" charset="2"/>
              <a:buChar char="Ø"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Asociado a una unidad de persistencia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Proporciona métodos para realizar operaciones CRUD sobre la capa de persistencia</a:t>
            </a:r>
          </a:p>
          <a:p>
            <a:pPr>
              <a:spcAft>
                <a:spcPts val="1200"/>
              </a:spcAft>
              <a:buFont typeface="Wingdings" pitchFamily="2" charset="2"/>
              <a:buChar char="Ø"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obtiene a través de un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EntityManagerFactory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asociado a una unidad de persistencia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Obtención de un </a:t>
            </a:r>
            <a:r>
              <a:rPr lang="es-ES" dirty="0" err="1" smtClean="0"/>
              <a:t>EntityManager</a:t>
            </a:r>
            <a:endParaRPr lang="es-ES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642910" y="1142990"/>
            <a:ext cx="7385474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Proceso: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Creación de un objeto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EntityManagerFactory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 partir de clase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Persistence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.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Creación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desde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EntityManagerFactory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42976" y="3143254"/>
            <a:ext cx="73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err="1" smtClean="0"/>
              <a:t>EntityManagerFactory</a:t>
            </a:r>
            <a:r>
              <a:rPr lang="es-ES" sz="1600" dirty="0" smtClean="0"/>
              <a:t> </a:t>
            </a:r>
            <a:r>
              <a:rPr lang="es-ES" sz="1600" dirty="0" err="1" smtClean="0"/>
              <a:t>factory</a:t>
            </a:r>
            <a:r>
              <a:rPr lang="es-ES" sz="1600" dirty="0" smtClean="0"/>
              <a:t>=</a:t>
            </a:r>
          </a:p>
          <a:p>
            <a:r>
              <a:rPr lang="es-ES" sz="1600" dirty="0" smtClean="0"/>
              <a:t>	</a:t>
            </a:r>
            <a:r>
              <a:rPr lang="es-ES" sz="1600" dirty="0" err="1" smtClean="0"/>
              <a:t>Persistence.createEntityManagerFactory</a:t>
            </a:r>
            <a:r>
              <a:rPr lang="es-ES" sz="1600" dirty="0" smtClean="0"/>
              <a:t>(“</a:t>
            </a:r>
            <a:r>
              <a:rPr lang="es-ES" sz="1600" dirty="0" err="1" smtClean="0"/>
              <a:t>unidad_persistencia</a:t>
            </a:r>
            <a:r>
              <a:rPr lang="es-ES" sz="1600" dirty="0" smtClean="0"/>
              <a:t>”);</a:t>
            </a:r>
          </a:p>
          <a:p>
            <a:r>
              <a:rPr lang="es-ES" sz="1600" dirty="0" err="1" smtClean="0"/>
              <a:t>EntityManager</a:t>
            </a:r>
            <a:r>
              <a:rPr lang="es-ES" sz="1600" dirty="0" smtClean="0"/>
              <a:t> </a:t>
            </a:r>
            <a:r>
              <a:rPr lang="es-ES" sz="1600" dirty="0" err="1" smtClean="0"/>
              <a:t>em</a:t>
            </a:r>
            <a:r>
              <a:rPr lang="es-ES" sz="1600" dirty="0" smtClean="0"/>
              <a:t>=</a:t>
            </a:r>
            <a:r>
              <a:rPr lang="es-ES" sz="1600" dirty="0" err="1" smtClean="0"/>
              <a:t>factory.createEntityManager</a:t>
            </a:r>
            <a:r>
              <a:rPr lang="es-ES" sz="1600" dirty="0" smtClean="0"/>
              <a:t>();</a:t>
            </a:r>
            <a:endParaRPr lang="es-ES" sz="1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Métodos básicos de </a:t>
            </a:r>
            <a:r>
              <a:rPr lang="es-ES" dirty="0" err="1" smtClean="0"/>
              <a:t>EntityManager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571472" y="1071552"/>
            <a:ext cx="7961538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Realización de operaciones CRUD: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</a:pP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void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persist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entidad). Persiste una entidad, añadiendo sus datos en una nueva fila de la BD.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</a:pP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void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merge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entidad). Actualiza la BD con los datos de la entidad, que debe formar parte de la unidad de persistencia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</a:pP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find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Class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&lt;T&gt;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clase_entidad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key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). Recupera una entidad a partir de su clave primaria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§"/>
            </a:pP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void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remove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(</a:t>
            </a:r>
            <a:r>
              <a:rPr lang="es-ES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entidad). Elimina la entidad</a:t>
            </a:r>
            <a:endParaRPr lang="es-ES" sz="2000" b="1" noProof="0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void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refresh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entidad). Actualiza las propiedades de la entidad con los valores de la BD 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endParaRPr lang="es-ES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42858"/>
            <a:ext cx="8229600" cy="857250"/>
          </a:xfrm>
        </p:spPr>
        <p:txBody>
          <a:bodyPr/>
          <a:lstStyle/>
          <a:p>
            <a:r>
              <a:rPr lang="es-ES" dirty="0" smtClean="0"/>
              <a:t>Transacciones</a:t>
            </a:r>
            <a:endParaRPr lang="es-ES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357158" y="1000114"/>
            <a:ext cx="8429684" cy="86409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Las operaciones de acción se deben englobar en una transacción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Gestionadas mediante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EntityTransaction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, que se obtiene desde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Métodos para gestionar la Transacción: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begin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Inicia transacción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rollback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Rechaza transacción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commit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Confirma transacción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571604" y="2428874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EntityTransaction</a:t>
            </a:r>
            <a:r>
              <a:rPr lang="es-ES" dirty="0" smtClean="0"/>
              <a:t> </a:t>
            </a:r>
            <a:r>
              <a:rPr lang="es-ES" dirty="0" err="1" smtClean="0"/>
              <a:t>tx</a:t>
            </a:r>
            <a:r>
              <a:rPr lang="es-ES" dirty="0" smtClean="0"/>
              <a:t>=</a:t>
            </a:r>
            <a:r>
              <a:rPr lang="es-ES" dirty="0" err="1" smtClean="0"/>
              <a:t>em.getTransaction</a:t>
            </a:r>
            <a:r>
              <a:rPr lang="es-ES" dirty="0" smtClean="0"/>
              <a:t>();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 smtClean="0"/>
              <a:t>Integración JPA-</a:t>
            </a:r>
            <a:r>
              <a:rPr lang="es-ES" dirty="0" err="1" smtClean="0"/>
              <a:t>Hibernate</a:t>
            </a:r>
            <a:r>
              <a:rPr lang="es-ES" dirty="0" smtClean="0"/>
              <a:t> con Spring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1"/>
                </a:solidFill>
              </a:rPr>
              <a:t>Características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1142990"/>
            <a:ext cx="7672936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La configuración de persistencia se incluye en la configuración Spring. No es necesario persistence.xml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Inyección de dependencia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EntityManager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Gestión automática de la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transaccionalidad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Se debe incorporar el módulo Spring ORM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tx1"/>
                </a:solidFill>
              </a:rPr>
              <a:t>Capa de repositorio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1142990"/>
            <a:ext cx="7672936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Incluirá las instrucciones JPA de manipulación de entidades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Mediante la anotación @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PersistenceContext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se inyectará el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EntityManager</a:t>
            </a: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Mediante la anotación @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Transactional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se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aplicará 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la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transaccionalidad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en los método de acción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641958" y="195486"/>
            <a:ext cx="9145016" cy="810089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noProof="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Configuración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571472" y="928676"/>
            <a:ext cx="8143932" cy="115212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En el archivo de configuración del modelo, será necesario definir los siguientes objetos: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DataSource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. Puede utilizarse el integrado en Spring o el del servidor de aplicaciones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HibernateJpaVendorAdapter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. Adaptador Spring para integrar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Hibernate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LocalContainerEntityManagerFactoryBean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. Objeto que configura la información de persistencia con JPA. Requiere los dos anteriores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JpaTransactionManager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rPr>
              <a:t>. Gestor de transacción de la capa de persistencia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3528" y="1314451"/>
            <a:ext cx="8134672" cy="137232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Consultas JPA</a:t>
            </a:r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Fundamentos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571472" y="1005576"/>
            <a:ext cx="7672936" cy="86409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Permiten recuperar, actualizar y eliminar entidades en base a diferentes criterios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definen mediante un lenguaje especial llamado JPQL, similar a SQL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Las consultas son gestionadas a través de un objeto de la interfaz </a:t>
            </a:r>
            <a:r>
              <a:rPr lang="es-ES" sz="2000" b="1" noProof="0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Query</a:t>
            </a: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o </a:t>
            </a:r>
            <a:r>
              <a:rPr lang="es-ES" sz="2000" b="1" noProof="0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TypedQuery</a:t>
            </a: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obtenido a partir de </a:t>
            </a:r>
            <a:r>
              <a:rPr lang="es-ES" sz="2000" b="1" noProof="0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</a:t>
            </a:r>
            <a:endParaRPr lang="es-ES" sz="2000" b="1" noProof="0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El lenguaje JPQL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571472" y="1005576"/>
            <a:ext cx="8104984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Adaptación de SQL para tratar con entidades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Formato instrucciones:</a:t>
            </a: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select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alias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from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 alias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condicion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delete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from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 alias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condicion</a:t>
            </a:r>
            <a:endParaRPr lang="es-ES" sz="16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update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Entidad alias set </a:t>
            </a:r>
            <a:r>
              <a:rPr lang="es-ES" sz="16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alias.atributo</a:t>
            </a:r>
            <a:r>
              <a:rPr lang="es-ES" sz="16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=valor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lang="es-ES" sz="2000" b="1" noProof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Ejemplos: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928794" y="3857634"/>
            <a:ext cx="6429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400" dirty="0" err="1" smtClean="0"/>
              <a:t>select</a:t>
            </a:r>
            <a:r>
              <a:rPr lang="es-ES" sz="1400" dirty="0" smtClean="0"/>
              <a:t> c </a:t>
            </a:r>
            <a:r>
              <a:rPr lang="es-ES" sz="1400" dirty="0" err="1" smtClean="0"/>
              <a:t>from</a:t>
            </a:r>
            <a:r>
              <a:rPr lang="es-ES" sz="1400" dirty="0" smtClean="0"/>
              <a:t> Contacto c</a:t>
            </a:r>
          </a:p>
          <a:p>
            <a:pPr lvl="1"/>
            <a:r>
              <a:rPr lang="es-ES" sz="1400" dirty="0" err="1" smtClean="0"/>
              <a:t>select</a:t>
            </a:r>
            <a:r>
              <a:rPr lang="es-ES" sz="1400" dirty="0" smtClean="0"/>
              <a:t> e </a:t>
            </a:r>
            <a:r>
              <a:rPr lang="es-ES" sz="1400" dirty="0" err="1" smtClean="0"/>
              <a:t>from</a:t>
            </a:r>
            <a:r>
              <a:rPr lang="es-ES" sz="1400" dirty="0" smtClean="0"/>
              <a:t> Empleado e </a:t>
            </a:r>
            <a:r>
              <a:rPr lang="es-ES" sz="1400" dirty="0" err="1" smtClean="0"/>
              <a:t>where</a:t>
            </a:r>
            <a:r>
              <a:rPr lang="es-ES" sz="1400" dirty="0" smtClean="0"/>
              <a:t> e.dni='5555K'</a:t>
            </a:r>
          </a:p>
          <a:p>
            <a:pPr lvl="1"/>
            <a:r>
              <a:rPr lang="en-US" sz="1400" dirty="0" smtClean="0"/>
              <a:t>update </a:t>
            </a:r>
            <a:r>
              <a:rPr lang="en-US" sz="1400" dirty="0" err="1" smtClean="0"/>
              <a:t>Empleado</a:t>
            </a:r>
            <a:r>
              <a:rPr lang="en-US" sz="1400" dirty="0" smtClean="0"/>
              <a:t> e set </a:t>
            </a:r>
            <a:r>
              <a:rPr lang="en-US" sz="1400" dirty="0" err="1" smtClean="0"/>
              <a:t>e.salario</a:t>
            </a:r>
            <a:r>
              <a:rPr lang="en-US" sz="1400" dirty="0" smtClean="0"/>
              <a:t>=</a:t>
            </a:r>
            <a:r>
              <a:rPr lang="en-US" sz="1400" dirty="0" err="1" smtClean="0"/>
              <a:t>e.salario</a:t>
            </a:r>
            <a:r>
              <a:rPr lang="en-US" sz="1400" dirty="0" smtClean="0"/>
              <a:t>*1.05 </a:t>
            </a:r>
            <a:endParaRPr lang="es-ES" sz="1400" dirty="0" smtClean="0"/>
          </a:p>
          <a:p>
            <a:pPr lvl="1"/>
            <a:r>
              <a:rPr lang="es-ES" sz="1400" dirty="0" err="1" smtClean="0"/>
              <a:t>delete</a:t>
            </a:r>
            <a:r>
              <a:rPr lang="es-ES" sz="1400" dirty="0" smtClean="0"/>
              <a:t> </a:t>
            </a:r>
            <a:r>
              <a:rPr lang="es-ES" sz="1400" dirty="0" err="1" smtClean="0"/>
              <a:t>from</a:t>
            </a:r>
            <a:r>
              <a:rPr lang="es-ES" sz="1400" dirty="0" smtClean="0"/>
              <a:t> Curso c </a:t>
            </a:r>
            <a:r>
              <a:rPr lang="es-ES" sz="1400" dirty="0" err="1" smtClean="0"/>
              <a:t>where</a:t>
            </a:r>
            <a:r>
              <a:rPr lang="es-ES" sz="1400" dirty="0" smtClean="0"/>
              <a:t> </a:t>
            </a:r>
            <a:r>
              <a:rPr lang="es-ES" sz="1400" dirty="0" err="1" smtClean="0"/>
              <a:t>c.nombre</a:t>
            </a:r>
            <a:r>
              <a:rPr lang="es-ES" sz="1400" dirty="0" smtClean="0"/>
              <a:t> </a:t>
            </a:r>
            <a:r>
              <a:rPr lang="es-ES" sz="1400" dirty="0" err="1" smtClean="0"/>
              <a:t>like</a:t>
            </a:r>
            <a:r>
              <a:rPr lang="es-ES" sz="1400" dirty="0" smtClean="0"/>
              <a:t> 'P%'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Objeto </a:t>
            </a:r>
            <a:r>
              <a:rPr lang="es-ES" dirty="0" err="1" smtClean="0"/>
              <a:t>Query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1005576"/>
            <a:ext cx="8033546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Implementación de la interfaz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javax.persistence.Query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que permite lanzar consultas JPQL a la capa de persistencia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obtiene a partir del método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createQuery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EntityManager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571604" y="2786064"/>
            <a:ext cx="38576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String</a:t>
            </a:r>
            <a:r>
              <a:rPr lang="es-ES" sz="1200" dirty="0" smtClean="0"/>
              <a:t> </a:t>
            </a:r>
            <a:r>
              <a:rPr lang="es-ES" sz="1200" dirty="0" err="1" smtClean="0"/>
              <a:t>jpql</a:t>
            </a:r>
            <a:r>
              <a:rPr lang="es-ES" sz="1200" dirty="0" smtClean="0"/>
              <a:t>="</a:t>
            </a:r>
            <a:r>
              <a:rPr lang="es-ES" sz="1200" dirty="0" err="1" smtClean="0"/>
              <a:t>select</a:t>
            </a:r>
            <a:r>
              <a:rPr lang="es-ES" sz="1200" dirty="0" smtClean="0"/>
              <a:t> c </a:t>
            </a:r>
            <a:r>
              <a:rPr lang="es-ES" sz="1200" dirty="0" err="1" smtClean="0"/>
              <a:t>from</a:t>
            </a:r>
            <a:r>
              <a:rPr lang="es-ES" sz="1200" dirty="0" smtClean="0"/>
              <a:t> Contacto c";</a:t>
            </a:r>
          </a:p>
          <a:p>
            <a:pPr marL="0" lvl="1"/>
            <a:r>
              <a:rPr lang="es-ES" sz="1200" dirty="0" err="1" smtClean="0"/>
              <a:t>Query</a:t>
            </a:r>
            <a:r>
              <a:rPr lang="es-ES" sz="1200" dirty="0" smtClean="0"/>
              <a:t> </a:t>
            </a:r>
            <a:r>
              <a:rPr lang="es-ES" sz="1200" dirty="0" err="1" smtClean="0"/>
              <a:t>qr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</a:t>
            </a:r>
            <a:r>
              <a:rPr lang="es-ES" sz="1200" dirty="0" err="1" smtClean="0"/>
              <a:t>jpql</a:t>
            </a:r>
            <a:r>
              <a:rPr lang="es-ES" sz="1200" dirty="0" smtClean="0"/>
              <a:t>);</a:t>
            </a:r>
            <a:endParaRPr lang="es-E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Métodos de </a:t>
            </a:r>
            <a:r>
              <a:rPr lang="es-ES" dirty="0" err="1" smtClean="0"/>
              <a:t>Query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714348" y="1005576"/>
            <a:ext cx="7962108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getResultList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Devuelve una colección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con las entidades recuperadas por la consulta: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Object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getSingleResult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Devuelve la única entidad resultante de la consulta. Si la consulta devolviera más de un resultado, se producirá una excepción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int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executeUpdate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 Ejecuta la consulta cuando se trata de una instrucción de acción (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Delete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o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Update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s-ES" sz="2000" b="1" i="0" u="none" strike="noStrike" kern="1200" cap="none" spc="0" normalizeH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14414" y="1785932"/>
            <a:ext cx="6552728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String</a:t>
            </a:r>
            <a:r>
              <a:rPr lang="es-ES" sz="1200" dirty="0" smtClean="0"/>
              <a:t> </a:t>
            </a:r>
            <a:r>
              <a:rPr lang="es-ES" sz="1200" dirty="0" err="1" smtClean="0"/>
              <a:t>jpql</a:t>
            </a:r>
            <a:r>
              <a:rPr lang="es-ES" sz="1200" dirty="0" smtClean="0"/>
              <a:t>="</a:t>
            </a:r>
            <a:r>
              <a:rPr lang="es-ES" sz="1200" dirty="0" err="1" smtClean="0"/>
              <a:t>select</a:t>
            </a:r>
            <a:r>
              <a:rPr lang="es-ES" sz="1200" dirty="0" smtClean="0"/>
              <a:t> c </a:t>
            </a:r>
            <a:r>
              <a:rPr lang="es-ES" sz="1200" dirty="0" err="1" smtClean="0"/>
              <a:t>from</a:t>
            </a:r>
            <a:r>
              <a:rPr lang="es-ES" sz="1200" dirty="0" smtClean="0"/>
              <a:t> Contacto c";</a:t>
            </a:r>
          </a:p>
          <a:p>
            <a:pPr marL="0" lvl="1"/>
            <a:r>
              <a:rPr lang="es-ES" sz="1200" dirty="0" err="1" smtClean="0"/>
              <a:t>Query</a:t>
            </a:r>
            <a:r>
              <a:rPr lang="es-ES" sz="1200" dirty="0" smtClean="0"/>
              <a:t> </a:t>
            </a:r>
            <a:r>
              <a:rPr lang="es-ES" sz="1200" dirty="0" err="1" smtClean="0"/>
              <a:t>qr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</a:t>
            </a:r>
            <a:r>
              <a:rPr lang="es-ES" sz="1200" dirty="0" err="1" smtClean="0"/>
              <a:t>jpql</a:t>
            </a:r>
            <a:r>
              <a:rPr lang="es-ES" sz="1200" dirty="0" smtClean="0"/>
              <a:t>);</a:t>
            </a:r>
          </a:p>
          <a:p>
            <a:pPr marL="0" lvl="1"/>
            <a:r>
              <a:rPr lang="es-ES" sz="1200" dirty="0" smtClean="0"/>
              <a:t>//casting al tipo de colección específica</a:t>
            </a:r>
          </a:p>
          <a:p>
            <a:pPr marL="0" lvl="1"/>
            <a:r>
              <a:rPr lang="es-ES" sz="1200" dirty="0" err="1" smtClean="0"/>
              <a:t>List</a:t>
            </a:r>
            <a:r>
              <a:rPr lang="es-ES" sz="1200" dirty="0" smtClean="0"/>
              <a:t>&lt;Contacto&gt; </a:t>
            </a:r>
            <a:r>
              <a:rPr lang="es-ES" sz="1200" dirty="0" err="1" smtClean="0"/>
              <a:t>contacts</a:t>
            </a:r>
            <a:r>
              <a:rPr lang="es-ES" sz="1200" dirty="0" smtClean="0"/>
              <a:t>=(</a:t>
            </a:r>
            <a:r>
              <a:rPr lang="es-ES" sz="1200" dirty="0" err="1" smtClean="0"/>
              <a:t>List</a:t>
            </a:r>
            <a:r>
              <a:rPr lang="es-ES" sz="1200" dirty="0" smtClean="0"/>
              <a:t>&lt;Contacto&gt;)</a:t>
            </a:r>
            <a:r>
              <a:rPr lang="es-ES" sz="1200" dirty="0" err="1" smtClean="0"/>
              <a:t>qr.getResultList</a:t>
            </a:r>
            <a:r>
              <a:rPr lang="es-ES" sz="1200" dirty="0" smtClean="0"/>
              <a:t>();</a:t>
            </a:r>
            <a:endParaRPr lang="es-E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42858"/>
            <a:ext cx="8229600" cy="857250"/>
          </a:xfrm>
        </p:spPr>
        <p:txBody>
          <a:bodyPr/>
          <a:lstStyle/>
          <a:p>
            <a:r>
              <a:rPr lang="es-ES" dirty="0" err="1" smtClean="0"/>
              <a:t>TypedQuery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928676"/>
            <a:ext cx="7962108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Subinterfaz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que permite especificar el tipo de entidad de la respuesta:</a:t>
            </a:r>
          </a:p>
          <a:p>
            <a:pPr lvl="1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&lt;T&gt;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getResultList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Devuelve una colección del tipo de las entidades: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getSingleResult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(). Devuelve la única entidad resultante de la consulta. Si no hay resultados o hay más de uno, genera una excepción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Disponible desde JPA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85852" y="2428874"/>
            <a:ext cx="6912768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String</a:t>
            </a:r>
            <a:r>
              <a:rPr lang="es-ES" sz="1200" dirty="0" smtClean="0"/>
              <a:t> </a:t>
            </a:r>
            <a:r>
              <a:rPr lang="es-ES" sz="1200" dirty="0" err="1" smtClean="0"/>
              <a:t>jpql</a:t>
            </a:r>
            <a:r>
              <a:rPr lang="es-ES" sz="1200" dirty="0" smtClean="0"/>
              <a:t>="</a:t>
            </a:r>
            <a:r>
              <a:rPr lang="es-ES" sz="1200" dirty="0" err="1" smtClean="0"/>
              <a:t>select</a:t>
            </a:r>
            <a:r>
              <a:rPr lang="es-ES" sz="1200" dirty="0" smtClean="0"/>
              <a:t> c </a:t>
            </a:r>
            <a:r>
              <a:rPr lang="es-ES" sz="1200" dirty="0" err="1" smtClean="0"/>
              <a:t>from</a:t>
            </a:r>
            <a:r>
              <a:rPr lang="es-ES" sz="1200" dirty="0" smtClean="0"/>
              <a:t> Contacto c";</a:t>
            </a:r>
          </a:p>
          <a:p>
            <a:pPr marL="0" lvl="1"/>
            <a:r>
              <a:rPr lang="es-ES" sz="1200" dirty="0" err="1" smtClean="0"/>
              <a:t>TypedQuery</a:t>
            </a:r>
            <a:r>
              <a:rPr lang="es-ES" sz="1200" dirty="0" smtClean="0"/>
              <a:t>&lt;Contacto&gt; </a:t>
            </a:r>
            <a:r>
              <a:rPr lang="es-ES" sz="1200" dirty="0" err="1" smtClean="0"/>
              <a:t>qr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</a:t>
            </a:r>
            <a:r>
              <a:rPr lang="es-ES" sz="1200" dirty="0" err="1" smtClean="0"/>
              <a:t>jpql,Contacto.class</a:t>
            </a:r>
            <a:r>
              <a:rPr lang="es-ES" sz="1200" dirty="0" smtClean="0"/>
              <a:t>);</a:t>
            </a:r>
          </a:p>
          <a:p>
            <a:pPr marL="0" lvl="1"/>
            <a:r>
              <a:rPr lang="es-ES" sz="1200" dirty="0" smtClean="0"/>
              <a:t>//No hay que hacer casting</a:t>
            </a:r>
          </a:p>
          <a:p>
            <a:pPr marL="0" lvl="1"/>
            <a:r>
              <a:rPr lang="es-ES" sz="1200" dirty="0" err="1" smtClean="0"/>
              <a:t>List</a:t>
            </a:r>
            <a:r>
              <a:rPr lang="es-ES" sz="1200" dirty="0" smtClean="0"/>
              <a:t>&lt;Contacto&gt; </a:t>
            </a:r>
            <a:r>
              <a:rPr lang="es-ES" sz="1200" dirty="0" err="1" smtClean="0"/>
              <a:t>contacts</a:t>
            </a:r>
            <a:r>
              <a:rPr lang="es-ES" sz="1200" dirty="0" smtClean="0"/>
              <a:t>=</a:t>
            </a:r>
            <a:r>
              <a:rPr lang="es-ES" sz="1200" dirty="0" err="1" smtClean="0"/>
              <a:t>qr.getResultList</a:t>
            </a:r>
            <a:r>
              <a:rPr lang="es-ES" sz="1200" dirty="0" smtClean="0"/>
              <a:t>();</a:t>
            </a:r>
            <a:endParaRPr lang="es-E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42858"/>
            <a:ext cx="8229600" cy="857250"/>
          </a:xfrm>
        </p:spPr>
        <p:txBody>
          <a:bodyPr/>
          <a:lstStyle/>
          <a:p>
            <a:r>
              <a:rPr lang="es-ES" dirty="0" smtClean="0"/>
              <a:t>Parámetros en JPQL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928676"/>
            <a:ext cx="7962108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Una consulta JPQL puede incluir parámetros en aquellos valores que son desconocidos.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pueden definir parámetros por posición o nombre: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Para sustituir los valores de los parámetros se utiliza el método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setParameter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071538" y="207168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ES" sz="1400" dirty="0" err="1" smtClean="0"/>
              <a:t>String</a:t>
            </a:r>
            <a:r>
              <a:rPr lang="es-ES" sz="1400" dirty="0" smtClean="0"/>
              <a:t> </a:t>
            </a:r>
            <a:r>
              <a:rPr lang="es-ES" sz="1400" dirty="0" err="1" smtClean="0"/>
              <a:t>jpql</a:t>
            </a:r>
            <a:r>
              <a:rPr lang="es-ES" sz="1400" dirty="0" smtClean="0"/>
              <a:t>="</a:t>
            </a:r>
            <a:r>
              <a:rPr lang="es-ES" sz="1400" dirty="0" err="1" smtClean="0"/>
              <a:t>select</a:t>
            </a:r>
            <a:r>
              <a:rPr lang="es-ES" sz="1400" dirty="0" smtClean="0"/>
              <a:t> c </a:t>
            </a:r>
            <a:r>
              <a:rPr lang="es-ES" sz="1400" dirty="0" err="1" smtClean="0"/>
              <a:t>from</a:t>
            </a:r>
            <a:r>
              <a:rPr lang="es-ES" sz="1400" dirty="0" smtClean="0"/>
              <a:t> Contacto c </a:t>
            </a:r>
            <a:r>
              <a:rPr lang="es-ES" sz="1400" dirty="0" err="1" smtClean="0"/>
              <a:t>where</a:t>
            </a:r>
            <a:r>
              <a:rPr lang="es-ES" sz="1400" dirty="0" smtClean="0"/>
              <a:t> </a:t>
            </a:r>
            <a:r>
              <a:rPr lang="es-ES" sz="1400" dirty="0" err="1" smtClean="0"/>
              <a:t>c.edad</a:t>
            </a:r>
            <a:r>
              <a:rPr lang="es-ES" sz="1400" dirty="0" smtClean="0"/>
              <a:t>=?1";</a:t>
            </a:r>
          </a:p>
          <a:p>
            <a:pPr lvl="1"/>
            <a:r>
              <a:rPr lang="es-ES" sz="1400" dirty="0" err="1" smtClean="0"/>
              <a:t>String</a:t>
            </a:r>
            <a:r>
              <a:rPr lang="es-ES" sz="1400" dirty="0" smtClean="0"/>
              <a:t> jpql2="</a:t>
            </a:r>
            <a:r>
              <a:rPr lang="es-ES" sz="1400" dirty="0" err="1" smtClean="0"/>
              <a:t>select</a:t>
            </a:r>
            <a:r>
              <a:rPr lang="es-ES" sz="1400" dirty="0" smtClean="0"/>
              <a:t> e </a:t>
            </a:r>
            <a:r>
              <a:rPr lang="es-ES" sz="1400" dirty="0" err="1" smtClean="0"/>
              <a:t>from</a:t>
            </a:r>
            <a:r>
              <a:rPr lang="es-ES" sz="1400" dirty="0" smtClean="0"/>
              <a:t> Empleado </a:t>
            </a:r>
            <a:r>
              <a:rPr lang="es-ES" sz="1400" dirty="0" err="1" smtClean="0"/>
              <a:t>where</a:t>
            </a:r>
            <a:r>
              <a:rPr lang="es-ES" sz="1400" dirty="0" smtClean="0"/>
              <a:t> </a:t>
            </a:r>
            <a:r>
              <a:rPr lang="es-ES" sz="1400" dirty="0" err="1" smtClean="0"/>
              <a:t>e.departamento</a:t>
            </a:r>
            <a:r>
              <a:rPr lang="es-ES" sz="1400" dirty="0" smtClean="0"/>
              <a:t>=:</a:t>
            </a:r>
            <a:r>
              <a:rPr lang="es-ES" sz="1400" dirty="0" err="1" smtClean="0"/>
              <a:t>dep</a:t>
            </a:r>
            <a:r>
              <a:rPr lang="es-ES" sz="1400" dirty="0" smtClean="0"/>
              <a:t>";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214414" y="3429006"/>
            <a:ext cx="571504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TypedQuery</a:t>
            </a:r>
            <a:r>
              <a:rPr lang="es-ES" sz="1200" dirty="0" smtClean="0"/>
              <a:t>&lt;Contacto&gt; </a:t>
            </a:r>
            <a:r>
              <a:rPr lang="es-ES" sz="1200" dirty="0" err="1" smtClean="0"/>
              <a:t>query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</a:t>
            </a:r>
            <a:r>
              <a:rPr lang="es-ES" sz="1200" dirty="0" err="1" smtClean="0"/>
              <a:t>jpql,Contacto.class</a:t>
            </a:r>
            <a:r>
              <a:rPr lang="es-ES" sz="1200" dirty="0" smtClean="0"/>
              <a:t>);</a:t>
            </a:r>
          </a:p>
          <a:p>
            <a:pPr marL="0" lvl="1"/>
            <a:r>
              <a:rPr lang="es-ES" sz="1200" dirty="0" err="1" smtClean="0"/>
              <a:t>query.setParameter</a:t>
            </a:r>
            <a:r>
              <a:rPr lang="es-ES" sz="1200" dirty="0" smtClean="0"/>
              <a:t>(1,35);</a:t>
            </a:r>
          </a:p>
          <a:p>
            <a:pPr marL="0" lvl="1"/>
            <a:r>
              <a:rPr lang="es-ES" sz="1200" dirty="0" err="1" smtClean="0"/>
              <a:t>List</a:t>
            </a:r>
            <a:r>
              <a:rPr lang="es-ES" sz="1200" dirty="0" smtClean="0"/>
              <a:t>&lt;Contacto&gt; contactos=</a:t>
            </a:r>
            <a:r>
              <a:rPr lang="es-ES" sz="1200" dirty="0" err="1" smtClean="0"/>
              <a:t>query.getResultList</a:t>
            </a:r>
            <a:r>
              <a:rPr lang="es-ES" sz="1200" dirty="0" smtClean="0"/>
              <a:t>();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214414" y="4214824"/>
            <a:ext cx="578647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TypedQuery</a:t>
            </a:r>
            <a:r>
              <a:rPr lang="es-ES" sz="1200" dirty="0" smtClean="0"/>
              <a:t>&lt;Empleado&gt; </a:t>
            </a:r>
            <a:r>
              <a:rPr lang="es-ES" sz="1200" dirty="0" err="1" smtClean="0"/>
              <a:t>query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(jpql2,Empleado.class);</a:t>
            </a:r>
          </a:p>
          <a:p>
            <a:pPr marL="0" lvl="1"/>
            <a:r>
              <a:rPr lang="es-ES" sz="1200" dirty="0" err="1" smtClean="0"/>
              <a:t>query.setParameter</a:t>
            </a:r>
            <a:r>
              <a:rPr lang="es-ES" sz="1200" dirty="0" smtClean="0"/>
              <a:t>("</a:t>
            </a:r>
            <a:r>
              <a:rPr lang="es-ES" sz="1200" dirty="0" err="1" smtClean="0"/>
              <a:t>dep","RRHH</a:t>
            </a:r>
            <a:r>
              <a:rPr lang="es-ES" sz="1200" dirty="0" smtClean="0"/>
              <a:t>");</a:t>
            </a:r>
          </a:p>
          <a:p>
            <a:pPr marL="0" lvl="1"/>
            <a:r>
              <a:rPr lang="es-ES" sz="1200" dirty="0" err="1" smtClean="0"/>
              <a:t>List</a:t>
            </a:r>
            <a:r>
              <a:rPr lang="es-ES" sz="1200" dirty="0" smtClean="0"/>
              <a:t>&lt;Empleado&gt; empleados=</a:t>
            </a:r>
            <a:r>
              <a:rPr lang="es-ES" sz="1200" dirty="0" err="1" smtClean="0"/>
              <a:t>query.getResultList</a:t>
            </a:r>
            <a:r>
              <a:rPr lang="es-ES" sz="1200" dirty="0" smtClean="0"/>
              <a:t>();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42858"/>
            <a:ext cx="8229600" cy="857250"/>
          </a:xfrm>
        </p:spPr>
        <p:txBody>
          <a:bodyPr/>
          <a:lstStyle/>
          <a:p>
            <a:r>
              <a:rPr lang="es-ES" dirty="0" smtClean="0"/>
              <a:t>Consultas de acción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928676"/>
            <a:ext cx="7962108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Se ejecutan con el método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executeUpdate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() de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, que devuelve el total de entidades afectadas.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Deben ser englobadas dentro de una transacción:</a:t>
            </a:r>
          </a:p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142976" y="2285998"/>
            <a:ext cx="535785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EntityTransaction</a:t>
            </a:r>
            <a:r>
              <a:rPr lang="es-ES" sz="1200" dirty="0" smtClean="0"/>
              <a:t> </a:t>
            </a:r>
            <a:r>
              <a:rPr lang="es-ES" sz="1200" dirty="0" err="1" smtClean="0"/>
              <a:t>tx</a:t>
            </a:r>
            <a:r>
              <a:rPr lang="es-ES" sz="1200" dirty="0" smtClean="0"/>
              <a:t>=</a:t>
            </a:r>
            <a:r>
              <a:rPr lang="es-ES" sz="1200" dirty="0" err="1" smtClean="0"/>
              <a:t>em.getTransaction</a:t>
            </a:r>
            <a:r>
              <a:rPr lang="es-ES" sz="1200" dirty="0" smtClean="0"/>
              <a:t>();</a:t>
            </a:r>
          </a:p>
          <a:p>
            <a:pPr marL="0" lvl="1"/>
            <a:r>
              <a:rPr lang="es-ES" sz="1200" dirty="0" err="1" smtClean="0"/>
              <a:t>String</a:t>
            </a:r>
            <a:r>
              <a:rPr lang="es-ES" sz="1200" dirty="0" smtClean="0"/>
              <a:t> </a:t>
            </a:r>
            <a:r>
              <a:rPr lang="es-ES" sz="1200" dirty="0" err="1" smtClean="0"/>
              <a:t>jpql</a:t>
            </a:r>
            <a:r>
              <a:rPr lang="es-ES" sz="1200" dirty="0" smtClean="0"/>
              <a:t>="</a:t>
            </a:r>
            <a:r>
              <a:rPr lang="es-ES" sz="1200" dirty="0" err="1" smtClean="0"/>
              <a:t>Delete</a:t>
            </a:r>
            <a:r>
              <a:rPr lang="es-ES" sz="1200" dirty="0" smtClean="0"/>
              <a:t> </a:t>
            </a:r>
            <a:r>
              <a:rPr lang="es-ES" sz="1200" dirty="0" err="1" smtClean="0"/>
              <a:t>from</a:t>
            </a:r>
            <a:r>
              <a:rPr lang="es-ES" sz="1200" dirty="0" smtClean="0"/>
              <a:t> Contacto c </a:t>
            </a:r>
            <a:r>
              <a:rPr lang="es-ES" sz="1200" dirty="0" err="1" smtClean="0"/>
              <a:t>where</a:t>
            </a:r>
            <a:r>
              <a:rPr lang="es-ES" sz="1200" dirty="0" smtClean="0"/>
              <a:t> </a:t>
            </a:r>
            <a:r>
              <a:rPr lang="es-ES" sz="1200" dirty="0" err="1" smtClean="0"/>
              <a:t>c.email</a:t>
            </a:r>
            <a:r>
              <a:rPr lang="es-ES" sz="1200" dirty="0" smtClean="0"/>
              <a:t> </a:t>
            </a:r>
            <a:r>
              <a:rPr lang="es-ES" sz="1200" dirty="0" err="1" smtClean="0"/>
              <a:t>like</a:t>
            </a:r>
            <a:r>
              <a:rPr lang="es-ES" sz="1200" dirty="0" smtClean="0"/>
              <a:t>=?1";</a:t>
            </a:r>
          </a:p>
          <a:p>
            <a:pPr marL="0" lvl="1"/>
            <a:r>
              <a:rPr lang="es-ES" sz="1200" dirty="0" err="1" smtClean="0"/>
              <a:t>Query</a:t>
            </a:r>
            <a:r>
              <a:rPr lang="es-ES" sz="1200" dirty="0" smtClean="0"/>
              <a:t> </a:t>
            </a:r>
            <a:r>
              <a:rPr lang="es-ES" sz="1200" dirty="0" err="1" smtClean="0"/>
              <a:t>query</a:t>
            </a:r>
            <a:r>
              <a:rPr lang="es-ES" sz="1200" dirty="0" smtClean="0"/>
              <a:t>=</a:t>
            </a:r>
            <a:r>
              <a:rPr lang="es-ES" sz="1200" dirty="0" err="1" smtClean="0"/>
              <a:t>em.createQuery</a:t>
            </a:r>
            <a:r>
              <a:rPr lang="es-ES" sz="1200" dirty="0" smtClean="0"/>
              <a:t>(</a:t>
            </a:r>
            <a:r>
              <a:rPr lang="es-ES" sz="1200" dirty="0" err="1" smtClean="0"/>
              <a:t>jpql</a:t>
            </a:r>
            <a:r>
              <a:rPr lang="es-ES" sz="1200" dirty="0" smtClean="0"/>
              <a:t>);</a:t>
            </a:r>
          </a:p>
          <a:p>
            <a:pPr marL="0" lvl="1"/>
            <a:r>
              <a:rPr lang="es-ES" sz="1200" dirty="0" err="1" smtClean="0"/>
              <a:t>query.setParameter</a:t>
            </a:r>
            <a:r>
              <a:rPr lang="es-ES" sz="1200" dirty="0" smtClean="0"/>
              <a:t>(1,"%.</a:t>
            </a:r>
            <a:r>
              <a:rPr lang="es-ES" sz="1200" dirty="0" err="1" smtClean="0"/>
              <a:t>com</a:t>
            </a:r>
            <a:r>
              <a:rPr lang="es-ES" sz="1200" dirty="0" smtClean="0"/>
              <a:t>");</a:t>
            </a:r>
          </a:p>
          <a:p>
            <a:pPr marL="0" lvl="1"/>
            <a:r>
              <a:rPr lang="es-ES" sz="1200" dirty="0" err="1" smtClean="0"/>
              <a:t>tx.begin</a:t>
            </a:r>
            <a:r>
              <a:rPr lang="es-ES" sz="1200" dirty="0" smtClean="0"/>
              <a:t>();</a:t>
            </a:r>
          </a:p>
          <a:p>
            <a:pPr marL="0" lvl="1"/>
            <a:r>
              <a:rPr lang="es-ES" sz="1200" dirty="0" err="1" smtClean="0"/>
              <a:t>int</a:t>
            </a:r>
            <a:r>
              <a:rPr lang="es-ES" sz="1200" dirty="0" smtClean="0"/>
              <a:t> res=</a:t>
            </a:r>
            <a:r>
              <a:rPr lang="es-ES" sz="1200" dirty="0" err="1" smtClean="0"/>
              <a:t>query.executeUpdate</a:t>
            </a:r>
            <a:r>
              <a:rPr lang="es-ES" sz="1200" dirty="0" smtClean="0"/>
              <a:t>();</a:t>
            </a:r>
          </a:p>
          <a:p>
            <a:pPr marL="0" lvl="1"/>
            <a:r>
              <a:rPr lang="es-ES" sz="1200" dirty="0" err="1" smtClean="0"/>
              <a:t>tx.commit</a:t>
            </a:r>
            <a:r>
              <a:rPr lang="es-ES" sz="1200" dirty="0" smtClean="0"/>
              <a:t>();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42858"/>
            <a:ext cx="8229600" cy="857250"/>
          </a:xfrm>
        </p:spPr>
        <p:txBody>
          <a:bodyPr/>
          <a:lstStyle/>
          <a:p>
            <a:r>
              <a:rPr lang="es-ES" dirty="0" err="1" smtClean="0"/>
              <a:t>NamedQueries</a:t>
            </a:r>
            <a:endParaRPr lang="es-ES" dirty="0"/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642910" y="928676"/>
            <a:ext cx="7962108" cy="864096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Una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NamedQuery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es una instrucción JPQL que se define en la entidad en lugar de en el código, lo que permite </a:t>
            </a:r>
            <a:r>
              <a:rPr lang="es-ES" sz="20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reutilizarla</a:t>
            </a:r>
            <a:r>
              <a:rPr lang="es-ES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 en varios puntos de la aplicación.</a:t>
            </a:r>
          </a:p>
          <a:p>
            <a:pPr lvl="0">
              <a:spcBef>
                <a:spcPts val="600"/>
              </a:spcBef>
              <a:spcAft>
                <a:spcPts val="1200"/>
              </a:spcAft>
              <a:buFont typeface="Wingdings" pitchFamily="2" charset="2"/>
              <a:buChar char="Ø"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lang="es-ES" sz="2000" b="1" dirty="0" smtClean="0"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14282" y="2714626"/>
            <a:ext cx="378621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smtClean="0"/>
              <a:t>@</a:t>
            </a:r>
            <a:r>
              <a:rPr lang="es-ES" sz="1200" dirty="0" err="1" smtClean="0"/>
              <a:t>Entity</a:t>
            </a:r>
            <a:endParaRPr lang="es-ES" sz="1200" dirty="0" smtClean="0"/>
          </a:p>
          <a:p>
            <a:pPr marL="0" lvl="1"/>
            <a:r>
              <a:rPr lang="es-ES" sz="1200" dirty="0" smtClean="0"/>
              <a:t>@</a:t>
            </a:r>
            <a:r>
              <a:rPr lang="es-ES" sz="1200" dirty="0" err="1" smtClean="0"/>
              <a:t>Table</a:t>
            </a:r>
            <a:r>
              <a:rPr lang="es-ES" sz="1200" dirty="0" smtClean="0"/>
              <a:t>(</a:t>
            </a:r>
            <a:r>
              <a:rPr lang="es-ES" sz="1200" dirty="0" err="1" smtClean="0"/>
              <a:t>name</a:t>
            </a:r>
            <a:r>
              <a:rPr lang="es-ES" sz="1200" dirty="0" smtClean="0"/>
              <a:t>="contactos")</a:t>
            </a:r>
          </a:p>
          <a:p>
            <a:pPr marL="0" lvl="1"/>
            <a:r>
              <a:rPr lang="es-ES" sz="1200" b="1" dirty="0" smtClean="0"/>
              <a:t>@</a:t>
            </a:r>
            <a:r>
              <a:rPr lang="es-ES" sz="1200" b="1" dirty="0" err="1" smtClean="0"/>
              <a:t>NamedQuery</a:t>
            </a:r>
            <a:r>
              <a:rPr lang="es-ES" sz="1200" b="1" dirty="0" smtClean="0"/>
              <a:t>(</a:t>
            </a:r>
            <a:r>
              <a:rPr lang="es-ES" sz="1200" b="1" dirty="0" err="1" smtClean="0"/>
              <a:t>name</a:t>
            </a:r>
            <a:r>
              <a:rPr lang="es-ES" sz="1200" b="1" dirty="0" smtClean="0"/>
              <a:t>="</a:t>
            </a:r>
            <a:r>
              <a:rPr lang="es-ES" sz="1200" b="1" dirty="0" err="1" smtClean="0"/>
              <a:t>Contacto.findAll</a:t>
            </a:r>
            <a:r>
              <a:rPr lang="es-ES" sz="1200" b="1" dirty="0" smtClean="0"/>
              <a:t>", </a:t>
            </a:r>
          </a:p>
          <a:p>
            <a:pPr marL="0" lvl="1"/>
            <a:r>
              <a:rPr lang="es-ES" sz="1200" b="1" dirty="0" smtClean="0"/>
              <a:t>	    </a:t>
            </a:r>
            <a:r>
              <a:rPr lang="es-ES" sz="1200" b="1" dirty="0" err="1" smtClean="0"/>
              <a:t>query</a:t>
            </a:r>
            <a:r>
              <a:rPr lang="es-ES" sz="1200" b="1" dirty="0" smtClean="0"/>
              <a:t>="</a:t>
            </a:r>
            <a:r>
              <a:rPr lang="es-ES" sz="1200" b="1" dirty="0" err="1" smtClean="0"/>
              <a:t>select</a:t>
            </a:r>
            <a:r>
              <a:rPr lang="es-ES" sz="1200" b="1" dirty="0" smtClean="0"/>
              <a:t> c </a:t>
            </a:r>
            <a:r>
              <a:rPr lang="es-ES" sz="1200" b="1" dirty="0" err="1" smtClean="0"/>
              <a:t>from</a:t>
            </a:r>
            <a:r>
              <a:rPr lang="es-ES" sz="1200" b="1" dirty="0" smtClean="0"/>
              <a:t> Contacto c")</a:t>
            </a:r>
          </a:p>
          <a:p>
            <a:pPr marL="0" lvl="1"/>
            <a:r>
              <a:rPr lang="es-ES" sz="1200" dirty="0" err="1" smtClean="0"/>
              <a:t>public</a:t>
            </a:r>
            <a:r>
              <a:rPr lang="es-ES" sz="1200" dirty="0" smtClean="0"/>
              <a:t> </a:t>
            </a:r>
            <a:r>
              <a:rPr lang="es-ES" sz="1200" dirty="0" err="1" smtClean="0"/>
              <a:t>class</a:t>
            </a:r>
            <a:r>
              <a:rPr lang="es-ES" sz="1200" dirty="0" smtClean="0"/>
              <a:t> Contacto{</a:t>
            </a:r>
          </a:p>
          <a:p>
            <a:pPr marL="0" lvl="1"/>
            <a:endParaRPr lang="es-ES" sz="1200" dirty="0" smtClean="0"/>
          </a:p>
          <a:p>
            <a:pPr marL="0" lvl="1"/>
            <a:endParaRPr lang="es-ES" sz="1200" dirty="0" smtClean="0"/>
          </a:p>
          <a:p>
            <a:pPr marL="0" lvl="1"/>
            <a:r>
              <a:rPr lang="es-ES" sz="1200" dirty="0" smtClean="0"/>
              <a:t>}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42844" y="2428874"/>
            <a:ext cx="150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Definición</a:t>
            </a:r>
            <a:endParaRPr lang="es-ES" sz="1400" dirty="0"/>
          </a:p>
        </p:txBody>
      </p:sp>
      <p:sp>
        <p:nvSpPr>
          <p:cNvPr id="7" name="6 CuadroTexto"/>
          <p:cNvSpPr txBox="1"/>
          <p:nvPr/>
        </p:nvSpPr>
        <p:spPr>
          <a:xfrm>
            <a:off x="4143372" y="2714626"/>
            <a:ext cx="500062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s-ES" sz="1200" dirty="0" err="1" smtClean="0"/>
              <a:t>TypedQuery</a:t>
            </a:r>
            <a:r>
              <a:rPr lang="es-ES" sz="1200" dirty="0" smtClean="0"/>
              <a:t>&lt;Contacto&gt; </a:t>
            </a:r>
            <a:r>
              <a:rPr lang="es-ES" sz="1200" dirty="0" err="1" smtClean="0"/>
              <a:t>query</a:t>
            </a:r>
            <a:r>
              <a:rPr lang="es-ES" sz="1200" dirty="0" smtClean="0"/>
              <a:t>;</a:t>
            </a:r>
          </a:p>
          <a:p>
            <a:pPr marL="0" lvl="1"/>
            <a:r>
              <a:rPr lang="es-ES" sz="1200" b="1" dirty="0" err="1" smtClean="0"/>
              <a:t>query</a:t>
            </a:r>
            <a:r>
              <a:rPr lang="es-ES" sz="1200" b="1" dirty="0" smtClean="0"/>
              <a:t>=</a:t>
            </a:r>
            <a:r>
              <a:rPr lang="es-ES" sz="1200" b="1" dirty="0" err="1" smtClean="0"/>
              <a:t>em.createNamedQuery</a:t>
            </a:r>
            <a:r>
              <a:rPr lang="es-ES" sz="1200" b="1" dirty="0" smtClean="0"/>
              <a:t>("</a:t>
            </a:r>
            <a:r>
              <a:rPr lang="es-ES" sz="1200" b="1" dirty="0" err="1" smtClean="0"/>
              <a:t>Contacto.findAll",Contacto.class</a:t>
            </a:r>
            <a:r>
              <a:rPr lang="es-ES" sz="1200" b="1" dirty="0" smtClean="0"/>
              <a:t>);</a:t>
            </a:r>
          </a:p>
          <a:p>
            <a:pPr marL="0" lvl="1"/>
            <a:r>
              <a:rPr lang="es-ES" sz="1200" b="1" dirty="0" smtClean="0"/>
              <a:t>: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4786314" y="2450908"/>
            <a:ext cx="150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Uso</a:t>
            </a:r>
            <a:endParaRPr lang="es-ES" sz="1400" dirty="0"/>
          </a:p>
        </p:txBody>
      </p:sp>
      <p:sp>
        <p:nvSpPr>
          <p:cNvPr id="9" name="8 Llamada rectangular redondeada"/>
          <p:cNvSpPr/>
          <p:nvPr/>
        </p:nvSpPr>
        <p:spPr>
          <a:xfrm>
            <a:off x="1714480" y="2071684"/>
            <a:ext cx="2143140" cy="500066"/>
          </a:xfrm>
          <a:prstGeom prst="wedgeRoundRectCallout">
            <a:avLst>
              <a:gd name="adj1" fmla="val -69668"/>
              <a:gd name="adj2" fmla="val 168248"/>
              <a:gd name="adj3" fmla="val 16667"/>
            </a:avLst>
          </a:prstGeom>
          <a:noFill/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>
            <a:off x="1741850" y="2060667"/>
            <a:ext cx="1928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Se pueden definir varias consultas, cada una con su correspondiente anotación</a:t>
            </a:r>
            <a:endParaRPr lang="es-E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5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6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7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8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9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0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3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4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5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6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7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8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19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0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1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2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3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4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5.xml><?xml version="1.0" encoding="utf-8"?>
<a:themeOverride xmlns:a="http://schemas.openxmlformats.org/drawingml/2006/main">
  <a:clrScheme name="Concurrencia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16578</TotalTime>
  <Words>1239</Words>
  <Application>Microsoft Office PowerPoint</Application>
  <PresentationFormat>Presentación en pantalla (16:9)</PresentationFormat>
  <Paragraphs>196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Concurrencia</vt:lpstr>
      <vt:lpstr>Java Persistence API</vt:lpstr>
      <vt:lpstr>¿Qué es una capa de persistencia?</vt:lpstr>
      <vt:lpstr>Entidades</vt:lpstr>
      <vt:lpstr>Frameworks de persistencia</vt:lpstr>
      <vt:lpstr>Fundamentos JPA</vt:lpstr>
      <vt:lpstr>Diapositiva 6</vt:lpstr>
      <vt:lpstr>Creación de una capa de persistencia</vt:lpstr>
      <vt:lpstr>Principales anotaciones JPA</vt:lpstr>
      <vt:lpstr>Utilización del API JPA</vt:lpstr>
      <vt:lpstr>Javadoc</vt:lpstr>
      <vt:lpstr>Objeto EntityManager</vt:lpstr>
      <vt:lpstr>Obtención de un EntityManager</vt:lpstr>
      <vt:lpstr>Métodos básicos de EntityManager</vt:lpstr>
      <vt:lpstr>Transacciones</vt:lpstr>
      <vt:lpstr>Integración JPA-Hibernate con Spring</vt:lpstr>
      <vt:lpstr>Características</vt:lpstr>
      <vt:lpstr>Capa de repositorio</vt:lpstr>
      <vt:lpstr>Diapositiva 18</vt:lpstr>
      <vt:lpstr>Consultas JPA</vt:lpstr>
      <vt:lpstr>Fundamentos</vt:lpstr>
      <vt:lpstr>El lenguaje JPQL</vt:lpstr>
      <vt:lpstr>Objeto Query</vt:lpstr>
      <vt:lpstr>Métodos de Query</vt:lpstr>
      <vt:lpstr>TypedQuery</vt:lpstr>
      <vt:lpstr>Parámetros en JPQL</vt:lpstr>
      <vt:lpstr>Consultas de acción</vt:lpstr>
      <vt:lpstr>NamedQueries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AngularJS 2</dc:title>
  <dc:creator>antonio martin</dc:creator>
  <cp:lastModifiedBy>Antonio</cp:lastModifiedBy>
  <cp:revision>165</cp:revision>
  <dcterms:created xsi:type="dcterms:W3CDTF">2016-05-07T10:27:15Z</dcterms:created>
  <dcterms:modified xsi:type="dcterms:W3CDTF">2023-06-25T06:37:22Z</dcterms:modified>
</cp:coreProperties>
</file>
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theme/themeOverride4.xml" ContentType="application/vnd.openxmlformats-officedocument.themeOverr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256" r:id="rId2"/>
    <p:sldId id="270" r:id="rId3"/>
    <p:sldId id="271" r:id="rId4"/>
    <p:sldId id="272" r:id="rId5"/>
    <p:sldId id="290" r:id="rId6"/>
    <p:sldId id="257" r:id="rId7"/>
    <p:sldId id="268" r:id="rId8"/>
    <p:sldId id="288" r:id="rId9"/>
    <p:sldId id="291" r:id="rId10"/>
    <p:sldId id="260" r:id="rId11"/>
    <p:sldId id="289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7" r:id="rId20"/>
    <p:sldId id="280" r:id="rId21"/>
    <p:sldId id="281" r:id="rId22"/>
    <p:sldId id="282" r:id="rId23"/>
    <p:sldId id="283" r:id="rId24"/>
    <p:sldId id="284" r:id="rId25"/>
    <p:sldId id="285" r:id="rId26"/>
    <p:sldId id="286" r:id="rId27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50B9B-B9C6-489C-ABBD-A17A0FA25196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8A3C0-D290-4770-B0B3-CA759B633CD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8</a:t>
            </a:fld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9</a:t>
            </a:fld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11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Cheurón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 rot="19297622">
            <a:off x="1082302" y="1988842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 smtClean="0">
                <a:solidFill>
                  <a:srgbClr val="E6E6E6"/>
                </a:solidFill>
              </a:rPr>
              <a:t>Antonio Martín Sierra</a:t>
            </a:r>
            <a:endParaRPr lang="es-ES" sz="4800" dirty="0">
              <a:solidFill>
                <a:srgbClr val="E6E6E6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24/02/2026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 smtClean="0"/>
              <a:t>Aplicaciones Web con Spring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1 Título"/>
          <p:cNvSpPr txBox="1">
            <a:spLocks/>
          </p:cNvSpPr>
          <p:nvPr/>
        </p:nvSpPr>
        <p:spPr>
          <a:xfrm>
            <a:off x="395536" y="771550"/>
            <a:ext cx="7992888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basan en estructura de tres capas, donde la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app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reside en un servidor (capa intermedia) al que los clientes navegadores acceden vía HTTP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" name="17 Esquina doblada"/>
          <p:cNvSpPr/>
          <p:nvPr/>
        </p:nvSpPr>
        <p:spPr>
          <a:xfrm>
            <a:off x="6588224" y="3435846"/>
            <a:ext cx="1547664" cy="1152128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Esquina doblada"/>
          <p:cNvSpPr/>
          <p:nvPr/>
        </p:nvSpPr>
        <p:spPr>
          <a:xfrm>
            <a:off x="5580112" y="1661934"/>
            <a:ext cx="1440160" cy="144016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Esquina doblada"/>
          <p:cNvSpPr/>
          <p:nvPr/>
        </p:nvSpPr>
        <p:spPr>
          <a:xfrm>
            <a:off x="144016" y="2513315"/>
            <a:ext cx="1691680" cy="216024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 txBox="1">
            <a:spLocks/>
          </p:cNvSpPr>
          <p:nvPr/>
        </p:nvSpPr>
        <p:spPr>
          <a:xfrm>
            <a:off x="35496" y="0"/>
            <a:ext cx="856895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Arquitectura aplicaciones Web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2499742"/>
            <a:ext cx="4510062" cy="2488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CuadroTexto"/>
          <p:cNvSpPr txBox="1"/>
          <p:nvPr/>
        </p:nvSpPr>
        <p:spPr>
          <a:xfrm>
            <a:off x="4355976" y="2211710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BackEnd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763688" y="206769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FrontEnd</a:t>
            </a:r>
            <a:endParaRPr lang="es-E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652120" y="1635646"/>
            <a:ext cx="1296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Java EE</a:t>
            </a:r>
          </a:p>
          <a:p>
            <a:r>
              <a:rPr lang="es-ES" dirty="0" err="1" smtClean="0">
                <a:solidFill>
                  <a:schemeClr val="bg1">
                    <a:lumMod val="95000"/>
                  </a:schemeClr>
                </a:solidFill>
              </a:rPr>
              <a:t>Node</a:t>
            </a:r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 JS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PHP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DJANGO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ASP.NET</a:t>
            </a:r>
            <a:endParaRPr lang="es-E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51520" y="2499742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HTML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+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CSS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+</a:t>
            </a:r>
          </a:p>
          <a:p>
            <a:r>
              <a:rPr lang="es-ES" dirty="0" err="1" smtClean="0">
                <a:solidFill>
                  <a:schemeClr val="bg1">
                    <a:lumMod val="95000"/>
                  </a:schemeClr>
                </a:solidFill>
              </a:rPr>
              <a:t>JavaScript</a:t>
            </a:r>
            <a:endParaRPr lang="es-ES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+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Angular</a:t>
            </a:r>
            <a:endParaRPr lang="es-E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6588224" y="3435846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>
                <a:solidFill>
                  <a:schemeClr val="bg1">
                    <a:lumMod val="95000"/>
                  </a:schemeClr>
                </a:solidFill>
              </a:rPr>
              <a:t>MySQL</a:t>
            </a:r>
            <a:endParaRPr lang="es-ES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Oracle</a:t>
            </a:r>
          </a:p>
          <a:p>
            <a:r>
              <a:rPr lang="es-ES" dirty="0" smtClean="0">
                <a:solidFill>
                  <a:schemeClr val="bg1">
                    <a:lumMod val="95000"/>
                  </a:schemeClr>
                </a:solidFill>
              </a:rPr>
              <a:t>SQL 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Interacción cliente-servidor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15566"/>
            <a:ext cx="7992888" cy="1872208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 una arquitectura Web, el navegador cliente se comunica con la capa intermedia utilizando el protocolo HTTP. HTTP es un protocolo basado en un mecanismo petición-respuesta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267506"/>
            <a:ext cx="4647460" cy="2612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4714876" y="2143122"/>
            <a:ext cx="37862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URL:</a:t>
            </a:r>
          </a:p>
          <a:p>
            <a:r>
              <a:rPr lang="es-ES" sz="1400" dirty="0" smtClean="0"/>
              <a:t>http://servidor:puerto/app/recurso</a:t>
            </a:r>
          </a:p>
          <a:p>
            <a:endParaRPr lang="es-ES" sz="1400" dirty="0"/>
          </a:p>
        </p:txBody>
      </p:sp>
      <p:cxnSp>
        <p:nvCxnSpPr>
          <p:cNvPr id="11" name="10 Conector recto de flecha"/>
          <p:cNvCxnSpPr/>
          <p:nvPr/>
        </p:nvCxnSpPr>
        <p:spPr>
          <a:xfrm rot="5400000" flipH="1" flipV="1">
            <a:off x="6483001" y="2892997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6300192" y="3147814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 smtClean="0"/>
              <a:t>context</a:t>
            </a:r>
            <a:r>
              <a:rPr lang="es-ES" sz="1000" dirty="0" smtClean="0"/>
              <a:t> </a:t>
            </a:r>
            <a:r>
              <a:rPr lang="es-ES" sz="1000" dirty="0" err="1" smtClean="0"/>
              <a:t>root</a:t>
            </a:r>
            <a:endParaRPr lang="es-ES" sz="1000" dirty="0" smtClean="0"/>
          </a:p>
          <a:p>
            <a:r>
              <a:rPr lang="es-ES" sz="1000" dirty="0" smtClean="0"/>
              <a:t>(dirección de la </a:t>
            </a:r>
            <a:r>
              <a:rPr lang="es-ES" sz="1000" dirty="0" err="1" smtClean="0"/>
              <a:t>app</a:t>
            </a:r>
            <a:r>
              <a:rPr lang="es-ES" sz="1000" dirty="0" smtClean="0"/>
              <a:t>)</a:t>
            </a:r>
            <a:endParaRPr lang="es-E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Flecha derecha"/>
          <p:cNvSpPr/>
          <p:nvPr/>
        </p:nvSpPr>
        <p:spPr>
          <a:xfrm>
            <a:off x="1619672" y="1851670"/>
            <a:ext cx="129614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463314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Estructura de una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app</a:t>
            </a: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Web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467544" y="3316687"/>
            <a:ext cx="7992888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Patrón Modelo Vista Controlador: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Modelo. Lógica de negocio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Controlador. Recepción y gestión de peticiones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Vista. Generación de respuestas</a:t>
            </a: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2627784" y="1347614"/>
            <a:ext cx="3672408" cy="18722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3419872" y="91556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Patrón MVC (</a:t>
            </a:r>
            <a:r>
              <a:rPr lang="es-ES" dirty="0" err="1" smtClean="0"/>
              <a:t>backend</a:t>
            </a:r>
            <a:r>
              <a:rPr lang="es-ES" dirty="0" smtClean="0"/>
              <a:t>)</a:t>
            </a:r>
            <a:endParaRPr lang="es-ES" dirty="0"/>
          </a:p>
        </p:txBody>
      </p:sp>
      <p:sp>
        <p:nvSpPr>
          <p:cNvPr id="7" name="6 Rectángulo"/>
          <p:cNvSpPr/>
          <p:nvPr/>
        </p:nvSpPr>
        <p:spPr>
          <a:xfrm>
            <a:off x="4499992" y="1491630"/>
            <a:ext cx="1440160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CuadroTexto"/>
          <p:cNvSpPr txBox="1"/>
          <p:nvPr/>
        </p:nvSpPr>
        <p:spPr>
          <a:xfrm>
            <a:off x="4499992" y="156363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smtClean="0"/>
              <a:t>Lógica de negocio</a:t>
            </a:r>
            <a:endParaRPr lang="es-ES" sz="1400" dirty="0"/>
          </a:p>
        </p:txBody>
      </p:sp>
      <p:sp>
        <p:nvSpPr>
          <p:cNvPr id="9" name="8 Rectángulo"/>
          <p:cNvSpPr/>
          <p:nvPr/>
        </p:nvSpPr>
        <p:spPr>
          <a:xfrm>
            <a:off x="2987824" y="1491630"/>
            <a:ext cx="1152128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>
            <a:off x="2941756" y="1688490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smtClean="0"/>
              <a:t>Controlador</a:t>
            </a:r>
          </a:p>
          <a:p>
            <a:pPr algn="ctr"/>
            <a:r>
              <a:rPr lang="es-ES" sz="1400" dirty="0" smtClean="0"/>
              <a:t> Web</a:t>
            </a:r>
            <a:endParaRPr lang="es-ES" sz="14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1835696" y="1902286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smtClean="0"/>
              <a:t>HTTP</a:t>
            </a:r>
            <a:endParaRPr lang="es-ES" sz="1200" b="1" dirty="0"/>
          </a:p>
        </p:txBody>
      </p:sp>
      <p:sp>
        <p:nvSpPr>
          <p:cNvPr id="13" name="12 Disco magnético"/>
          <p:cNvSpPr/>
          <p:nvPr/>
        </p:nvSpPr>
        <p:spPr>
          <a:xfrm>
            <a:off x="6858016" y="1713924"/>
            <a:ext cx="1214446" cy="64294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CuadroTexto"/>
          <p:cNvSpPr txBox="1"/>
          <p:nvPr/>
        </p:nvSpPr>
        <p:spPr>
          <a:xfrm>
            <a:off x="7215206" y="191609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BD</a:t>
            </a:r>
            <a:endParaRPr lang="es-ES" dirty="0"/>
          </a:p>
        </p:txBody>
      </p:sp>
      <p:sp>
        <p:nvSpPr>
          <p:cNvPr id="15" name="14 Flecha izquierda y derecha"/>
          <p:cNvSpPr/>
          <p:nvPr/>
        </p:nvSpPr>
        <p:spPr>
          <a:xfrm>
            <a:off x="6357950" y="1999676"/>
            <a:ext cx="428628" cy="14287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Nube"/>
          <p:cNvSpPr/>
          <p:nvPr/>
        </p:nvSpPr>
        <p:spPr>
          <a:xfrm>
            <a:off x="500034" y="1785362"/>
            <a:ext cx="928694" cy="573003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 w="25400" cmpd="sng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/>
          </a:p>
        </p:txBody>
      </p:sp>
      <p:sp>
        <p:nvSpPr>
          <p:cNvPr id="18" name="17 Rectángulo"/>
          <p:cNvSpPr/>
          <p:nvPr/>
        </p:nvSpPr>
        <p:spPr>
          <a:xfrm>
            <a:off x="3707904" y="2499742"/>
            <a:ext cx="1440160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CuadroTexto"/>
          <p:cNvSpPr txBox="1"/>
          <p:nvPr/>
        </p:nvSpPr>
        <p:spPr>
          <a:xfrm>
            <a:off x="3707904" y="2643758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smtClean="0"/>
              <a:t>Vista</a:t>
            </a:r>
            <a:endParaRPr lang="es-ES" sz="1400" dirty="0"/>
          </a:p>
        </p:txBody>
      </p:sp>
      <p:sp>
        <p:nvSpPr>
          <p:cNvPr id="21" name="20 Flecha derecha"/>
          <p:cNvSpPr/>
          <p:nvPr/>
        </p:nvSpPr>
        <p:spPr>
          <a:xfrm rot="11800570">
            <a:off x="1622923" y="2465441"/>
            <a:ext cx="1810617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CuadroTexto"/>
          <p:cNvSpPr txBox="1"/>
          <p:nvPr/>
        </p:nvSpPr>
        <p:spPr>
          <a:xfrm rot="905558">
            <a:off x="2074121" y="245407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smtClean="0"/>
              <a:t>HTTP</a:t>
            </a:r>
            <a:endParaRPr lang="es-E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Servidores de aplicaciones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87574"/>
            <a:ext cx="7992888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Las aplicaciones Java EE se ejecutan sobre un servidor de aplicaciones que gestiona el ciclo de vida de las mismas.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2067694"/>
            <a:ext cx="2506017" cy="2064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Rectángulo"/>
          <p:cNvSpPr/>
          <p:nvPr/>
        </p:nvSpPr>
        <p:spPr>
          <a:xfrm>
            <a:off x="5364088" y="2283718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WebLogic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5220072" y="2686149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WildFly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5292080" y="3075806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Tomcat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5544167" y="3435846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WebSphere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Spring en aplicaciones Web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611560" y="1131590"/>
            <a:ext cx="8064896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Siguen el patrón Modelo Vista Controlador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Proporciona utilidades que simplifican el proceso de creación de aplicaciones frente a Java EE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Requiere las dependencias core,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context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web y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webmvc</a:t>
            </a: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general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611560" y="1131590"/>
            <a:ext cx="8064896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Controlador y modelo mediante clases estándares Java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Vistas mediante JSP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2283718"/>
            <a:ext cx="4344144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95486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Contenedores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15566"/>
            <a:ext cx="7992888" cy="1872208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Proporcionan todo lo necesario para que los componentes de la aplicación puedan ejecutarse.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Forman parte de los servidores de aplicaciones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ilindro"/>
          <p:cNvSpPr/>
          <p:nvPr/>
        </p:nvSpPr>
        <p:spPr>
          <a:xfrm>
            <a:off x="7812360" y="3219822"/>
            <a:ext cx="1152128" cy="86409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Rectángulo"/>
          <p:cNvSpPr/>
          <p:nvPr/>
        </p:nvSpPr>
        <p:spPr>
          <a:xfrm>
            <a:off x="899592" y="3003798"/>
            <a:ext cx="151216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CuadroTexto"/>
          <p:cNvSpPr txBox="1"/>
          <p:nvPr/>
        </p:nvSpPr>
        <p:spPr>
          <a:xfrm>
            <a:off x="1115616" y="314781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browser</a:t>
            </a:r>
            <a:endParaRPr lang="es-ES" dirty="0"/>
          </a:p>
        </p:txBody>
      </p:sp>
      <p:cxnSp>
        <p:nvCxnSpPr>
          <p:cNvPr id="9" name="8 Conector recto de flecha"/>
          <p:cNvCxnSpPr>
            <a:stCxn id="20" idx="6"/>
          </p:cNvCxnSpPr>
          <p:nvPr/>
        </p:nvCxnSpPr>
        <p:spPr>
          <a:xfrm>
            <a:off x="6156176" y="3435846"/>
            <a:ext cx="158417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>
            <a:off x="2411760" y="3219822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>
            <a:stCxn id="25" idx="1"/>
          </p:cNvCxnSpPr>
          <p:nvPr/>
        </p:nvCxnSpPr>
        <p:spPr>
          <a:xfrm flipH="1" flipV="1">
            <a:off x="2411760" y="3507854"/>
            <a:ext cx="1368152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>
            <a:off x="4788024" y="336383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6228184" y="3075806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Hibernate</a:t>
            </a:r>
            <a:r>
              <a:rPr lang="es-ES" dirty="0" smtClean="0"/>
              <a:t>/JPA</a:t>
            </a:r>
            <a:endParaRPr lang="es-ES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3707904" y="2571750"/>
            <a:ext cx="2592288" cy="24482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17 Conector recto"/>
          <p:cNvCxnSpPr>
            <a:stCxn id="14" idx="0"/>
            <a:endCxn id="14" idx="2"/>
          </p:cNvCxnSpPr>
          <p:nvPr/>
        </p:nvCxnSpPr>
        <p:spPr>
          <a:xfrm>
            <a:off x="5004048" y="2571750"/>
            <a:ext cx="0" cy="2448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3635896" y="2211710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servidor APPS/ contenedor Web</a:t>
            </a:r>
          </a:p>
          <a:p>
            <a:endParaRPr lang="es-ES" sz="1400" dirty="0"/>
          </a:p>
        </p:txBody>
      </p:sp>
      <p:sp>
        <p:nvSpPr>
          <p:cNvPr id="20" name="19 Elipse"/>
          <p:cNvSpPr/>
          <p:nvPr/>
        </p:nvSpPr>
        <p:spPr>
          <a:xfrm>
            <a:off x="5220072" y="3075806"/>
            <a:ext cx="936104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CuadroTexto"/>
          <p:cNvSpPr txBox="1"/>
          <p:nvPr/>
        </p:nvSpPr>
        <p:spPr>
          <a:xfrm>
            <a:off x="5392850" y="321982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 smtClean="0"/>
              <a:t>beans</a:t>
            </a:r>
            <a:r>
              <a:rPr lang="es-ES" sz="1200" dirty="0" smtClean="0"/>
              <a:t> </a:t>
            </a:r>
            <a:r>
              <a:rPr lang="es-ES" sz="1200" dirty="0" err="1" smtClean="0"/>
              <a:t>spring</a:t>
            </a:r>
            <a:endParaRPr lang="es-ES" sz="1200" dirty="0"/>
          </a:p>
        </p:txBody>
      </p:sp>
      <p:sp>
        <p:nvSpPr>
          <p:cNvPr id="22" name="21 Elipse"/>
          <p:cNvSpPr/>
          <p:nvPr/>
        </p:nvSpPr>
        <p:spPr>
          <a:xfrm>
            <a:off x="3851920" y="3075806"/>
            <a:ext cx="936104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22 CuadroTexto"/>
          <p:cNvSpPr txBox="1"/>
          <p:nvPr/>
        </p:nvSpPr>
        <p:spPr>
          <a:xfrm>
            <a:off x="3855970" y="321982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 smtClean="0"/>
              <a:t>controllers</a:t>
            </a:r>
            <a:r>
              <a:rPr lang="es-ES" sz="1200" dirty="0" smtClean="0"/>
              <a:t> </a:t>
            </a:r>
            <a:r>
              <a:rPr lang="es-ES" sz="1200" dirty="0" err="1" smtClean="0"/>
              <a:t>spring</a:t>
            </a:r>
            <a:endParaRPr lang="es-ES" sz="1200" dirty="0"/>
          </a:p>
        </p:txBody>
      </p:sp>
      <p:sp>
        <p:nvSpPr>
          <p:cNvPr id="25" name="24 Rectángulo redondeado"/>
          <p:cNvSpPr/>
          <p:nvPr/>
        </p:nvSpPr>
        <p:spPr>
          <a:xfrm>
            <a:off x="3779912" y="4299942"/>
            <a:ext cx="115212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3851920" y="430504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/>
              <a:t>JSP/</a:t>
            </a:r>
          </a:p>
          <a:p>
            <a:pPr algn="ctr"/>
            <a:r>
              <a:rPr lang="es-ES" sz="1200" dirty="0" err="1" smtClean="0"/>
              <a:t>Thymeleaf</a:t>
            </a:r>
            <a:endParaRPr lang="es-ES" sz="1200" dirty="0"/>
          </a:p>
        </p:txBody>
      </p:sp>
      <p:cxnSp>
        <p:nvCxnSpPr>
          <p:cNvPr id="31" name="30 Conector recto de flecha"/>
          <p:cNvCxnSpPr>
            <a:endCxn id="26" idx="0"/>
          </p:cNvCxnSpPr>
          <p:nvPr/>
        </p:nvCxnSpPr>
        <p:spPr>
          <a:xfrm>
            <a:off x="4355976" y="3795886"/>
            <a:ext cx="0" cy="5091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CuadroTexto"/>
          <p:cNvSpPr txBox="1"/>
          <p:nvPr/>
        </p:nvSpPr>
        <p:spPr>
          <a:xfrm>
            <a:off x="2627784" y="415592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HTML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Servidores de aplicaciones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87574"/>
            <a:ext cx="7992888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Las aplicaciones Java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EE/Spring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ejecutan sobre un servidor de aplicaciones que gestiona el ciclo de vida de las mismas.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2067694"/>
            <a:ext cx="2506017" cy="2064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Rectángulo"/>
          <p:cNvSpPr/>
          <p:nvPr/>
        </p:nvSpPr>
        <p:spPr>
          <a:xfrm>
            <a:off x="5364088" y="2283718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WebLogic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5220072" y="2686149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WildFly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5292080" y="3075806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Tomcat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5544167" y="3435846"/>
            <a:ext cx="1908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WebSphere</a:t>
            </a:r>
            <a:endParaRPr lang="es-ES" sz="2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251520" y="195486"/>
            <a:ext cx="8496944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en Spring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611560" y="1059582"/>
            <a:ext cx="8064896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específica de clases a través de anotaciones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de datos de aplicación a través de archivos XML o clases de configuración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Cada bloque suele tener su archivo/clase de configuración propia: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2123728" y="3147814"/>
            <a:ext cx="1728192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444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30 CuadroTexto"/>
          <p:cNvSpPr txBox="1"/>
          <p:nvPr/>
        </p:nvSpPr>
        <p:spPr>
          <a:xfrm>
            <a:off x="2228394" y="324988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controlador</a:t>
            </a:r>
            <a:endParaRPr lang="es-ES" b="1" dirty="0"/>
          </a:p>
        </p:txBody>
      </p:sp>
      <p:sp>
        <p:nvSpPr>
          <p:cNvPr id="32" name="31 Rectángulo redondeado"/>
          <p:cNvSpPr/>
          <p:nvPr/>
        </p:nvSpPr>
        <p:spPr>
          <a:xfrm>
            <a:off x="2123728" y="4083918"/>
            <a:ext cx="1728192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444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32 CuadroTexto"/>
          <p:cNvSpPr txBox="1"/>
          <p:nvPr/>
        </p:nvSpPr>
        <p:spPr>
          <a:xfrm>
            <a:off x="2372410" y="4185984"/>
            <a:ext cx="11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modelo</a:t>
            </a:r>
            <a:endParaRPr lang="es-ES" b="1" dirty="0"/>
          </a:p>
        </p:txBody>
      </p:sp>
      <p:sp>
        <p:nvSpPr>
          <p:cNvPr id="34" name="33 Flecha derecha"/>
          <p:cNvSpPr/>
          <p:nvPr/>
        </p:nvSpPr>
        <p:spPr>
          <a:xfrm>
            <a:off x="4067944" y="3291830"/>
            <a:ext cx="1080120" cy="288032"/>
          </a:xfrm>
          <a:prstGeom prst="rightArrow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34 Flecha derecha"/>
          <p:cNvSpPr/>
          <p:nvPr/>
        </p:nvSpPr>
        <p:spPr>
          <a:xfrm>
            <a:off x="4067944" y="4227934"/>
            <a:ext cx="1080120" cy="288032"/>
          </a:xfrm>
          <a:prstGeom prst="rightArrow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35 CuadroTexto"/>
          <p:cNvSpPr txBox="1"/>
          <p:nvPr/>
        </p:nvSpPr>
        <p:spPr>
          <a:xfrm>
            <a:off x="5220072" y="3128069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mvcConfig.xml</a:t>
            </a:r>
            <a:endParaRPr lang="es-ES" sz="1400" dirty="0"/>
          </a:p>
        </p:txBody>
      </p:sp>
      <p:sp>
        <p:nvSpPr>
          <p:cNvPr id="37" name="36 CuadroTexto"/>
          <p:cNvSpPr txBox="1"/>
          <p:nvPr/>
        </p:nvSpPr>
        <p:spPr>
          <a:xfrm>
            <a:off x="5220072" y="341610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mvcConfig.java</a:t>
            </a:r>
            <a:endParaRPr lang="es-ES" sz="1400" dirty="0"/>
          </a:p>
        </p:txBody>
      </p:sp>
      <p:sp>
        <p:nvSpPr>
          <p:cNvPr id="38" name="37 CuadroTexto"/>
          <p:cNvSpPr txBox="1"/>
          <p:nvPr/>
        </p:nvSpPr>
        <p:spPr>
          <a:xfrm>
            <a:off x="5292080" y="4083918"/>
            <a:ext cx="201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springConfig.xml</a:t>
            </a:r>
            <a:endParaRPr lang="es-ES" sz="1400" dirty="0"/>
          </a:p>
        </p:txBody>
      </p:sp>
      <p:sp>
        <p:nvSpPr>
          <p:cNvPr id="39" name="38 CuadroTexto"/>
          <p:cNvSpPr txBox="1"/>
          <p:nvPr/>
        </p:nvSpPr>
        <p:spPr>
          <a:xfrm>
            <a:off x="5292080" y="437195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springConfig.java</a:t>
            </a:r>
            <a:endParaRPr lang="es-ES" sz="1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07504" y="123478"/>
            <a:ext cx="8784976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Distribución de aplicaciones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491630"/>
            <a:ext cx="2808312" cy="331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 Título"/>
          <p:cNvSpPr txBox="1">
            <a:spLocks/>
          </p:cNvSpPr>
          <p:nvPr/>
        </p:nvSpPr>
        <p:spPr>
          <a:xfrm>
            <a:off x="179512" y="843558"/>
            <a:ext cx="8064896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Como cualquier aplicación Java EE, se distribuyen en archivos .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war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que son desplegados en el servidor de aplicaciones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2 Forma libre"/>
          <p:cNvSpPr/>
          <p:nvPr/>
        </p:nvSpPr>
        <p:spPr>
          <a:xfrm>
            <a:off x="4182894" y="2171429"/>
            <a:ext cx="2230876" cy="688503"/>
          </a:xfrm>
          <a:custGeom>
            <a:avLst/>
            <a:gdLst>
              <a:gd name="connsiteX0" fmla="*/ 0 w 2230876"/>
              <a:gd name="connsiteY0" fmla="*/ 688503 h 688503"/>
              <a:gd name="connsiteX1" fmla="*/ 1154349 w 2230876"/>
              <a:gd name="connsiteY1" fmla="*/ 46477 h 688503"/>
              <a:gd name="connsiteX2" fmla="*/ 2230876 w 2230876"/>
              <a:gd name="connsiteY2" fmla="*/ 409643 h 68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0876" h="688503">
                <a:moveTo>
                  <a:pt x="0" y="688503"/>
                </a:moveTo>
                <a:cubicBezTo>
                  <a:pt x="391268" y="390728"/>
                  <a:pt x="782536" y="92954"/>
                  <a:pt x="1154349" y="46477"/>
                </a:cubicBezTo>
                <a:cubicBezTo>
                  <a:pt x="1526162" y="0"/>
                  <a:pt x="1878519" y="204821"/>
                  <a:pt x="2230876" y="40964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 redondeado"/>
          <p:cNvSpPr/>
          <p:nvPr/>
        </p:nvSpPr>
        <p:spPr>
          <a:xfrm>
            <a:off x="6516216" y="2499742"/>
            <a:ext cx="1512168" cy="86409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6588224" y="1995686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Servidor</a:t>
            </a:r>
          </a:p>
          <a:p>
            <a:r>
              <a:rPr lang="es-ES" sz="1400" dirty="0" smtClean="0"/>
              <a:t>aplicaciones</a:t>
            </a:r>
            <a:endParaRPr lang="es-ES" sz="14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588224" y="2643758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Tomcat</a:t>
            </a:r>
            <a:r>
              <a:rPr lang="es-ES" dirty="0" smtClean="0"/>
              <a:t>, </a:t>
            </a:r>
            <a:r>
              <a:rPr lang="es-ES" dirty="0" err="1" smtClean="0"/>
              <a:t>wildfly</a:t>
            </a:r>
            <a:r>
              <a:rPr lang="es-ES" dirty="0" smtClean="0"/>
              <a:t>,..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El modelo en Spring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general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755576" y="3219822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Controlador</a:t>
            </a:r>
            <a:endParaRPr lang="es-ES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827584" y="3651870"/>
            <a:ext cx="2880320" cy="10081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971600" y="3651870"/>
            <a:ext cx="2808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@</a:t>
            </a:r>
            <a:r>
              <a:rPr lang="es-ES" sz="1200" dirty="0" err="1" smtClean="0"/>
              <a:t>Controller</a:t>
            </a:r>
            <a:endParaRPr lang="es-ES" sz="1200" dirty="0" smtClean="0"/>
          </a:p>
          <a:p>
            <a:r>
              <a:rPr lang="es-ES" sz="1200" dirty="0" err="1" smtClean="0"/>
              <a:t>public</a:t>
            </a:r>
            <a:r>
              <a:rPr lang="es-ES" sz="1200" dirty="0" smtClean="0"/>
              <a:t> </a:t>
            </a:r>
            <a:r>
              <a:rPr lang="es-ES" sz="1200" dirty="0" err="1" smtClean="0"/>
              <a:t>class</a:t>
            </a:r>
            <a:r>
              <a:rPr lang="es-ES" sz="1200" dirty="0" smtClean="0"/>
              <a:t> </a:t>
            </a:r>
            <a:r>
              <a:rPr lang="es-ES" sz="1200" dirty="0" err="1" smtClean="0"/>
              <a:t>ClaseController</a:t>
            </a:r>
            <a:r>
              <a:rPr lang="es-ES" sz="1200" dirty="0" smtClean="0"/>
              <a:t> {</a:t>
            </a:r>
          </a:p>
          <a:p>
            <a:r>
              <a:rPr lang="es-ES" sz="1200" dirty="0" smtClean="0"/>
              <a:t>    @</a:t>
            </a:r>
            <a:r>
              <a:rPr lang="es-ES" sz="1200" dirty="0" err="1" smtClean="0"/>
              <a:t>Autowired</a:t>
            </a:r>
            <a:endParaRPr lang="es-ES" sz="1200" dirty="0" smtClean="0"/>
          </a:p>
          <a:p>
            <a:r>
              <a:rPr lang="es-ES" sz="1200" dirty="0" smtClean="0"/>
              <a:t>    </a:t>
            </a:r>
            <a:r>
              <a:rPr lang="es-ES" sz="1200" dirty="0" err="1" smtClean="0"/>
              <a:t>InterfazService</a:t>
            </a:r>
            <a:r>
              <a:rPr lang="es-ES" sz="1200" dirty="0" smtClean="0"/>
              <a:t> </a:t>
            </a:r>
            <a:r>
              <a:rPr lang="es-ES" sz="1200" dirty="0" err="1" smtClean="0"/>
              <a:t>service</a:t>
            </a:r>
            <a:r>
              <a:rPr lang="es-ES" sz="1200" dirty="0" smtClean="0"/>
              <a:t>;</a:t>
            </a:r>
          </a:p>
          <a:p>
            <a:r>
              <a:rPr lang="es-ES" sz="1200" dirty="0" smtClean="0"/>
              <a:t>}</a:t>
            </a:r>
            <a:endParaRPr lang="es-ES" sz="1200" dirty="0"/>
          </a:p>
        </p:txBody>
      </p:sp>
      <p:sp>
        <p:nvSpPr>
          <p:cNvPr id="33" name="1 Título"/>
          <p:cNvSpPr txBox="1">
            <a:spLocks/>
          </p:cNvSpPr>
          <p:nvPr/>
        </p:nvSpPr>
        <p:spPr>
          <a:xfrm>
            <a:off x="467544" y="987574"/>
            <a:ext cx="8134672" cy="232225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Se implementa en clases estándares anotadas con @</a:t>
            </a:r>
            <a:r>
              <a:rPr kumimoji="0" lang="es-E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Service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La interacción con el controlador se realiza mediante interfaz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Las instancias son inyectadas en el controlador mediante @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Autowired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5508104" y="271576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Modelo</a:t>
            </a:r>
            <a:endParaRPr lang="es-ES" dirty="0"/>
          </a:p>
        </p:txBody>
      </p:sp>
      <p:sp>
        <p:nvSpPr>
          <p:cNvPr id="22" name="21 Rectángulo redondeado"/>
          <p:cNvSpPr/>
          <p:nvPr/>
        </p:nvSpPr>
        <p:spPr>
          <a:xfrm>
            <a:off x="5580112" y="3147814"/>
            <a:ext cx="2880320" cy="7200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CuadroTexto"/>
          <p:cNvSpPr txBox="1"/>
          <p:nvPr/>
        </p:nvSpPr>
        <p:spPr>
          <a:xfrm>
            <a:off x="5724128" y="3147814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 smtClean="0"/>
              <a:t>public</a:t>
            </a:r>
            <a:r>
              <a:rPr lang="es-ES" sz="1200" dirty="0" smtClean="0"/>
              <a:t> interface </a:t>
            </a:r>
            <a:r>
              <a:rPr lang="es-ES" sz="1200" dirty="0" err="1" smtClean="0"/>
              <a:t>InterfazService</a:t>
            </a:r>
            <a:r>
              <a:rPr lang="es-ES" sz="1200" dirty="0" smtClean="0"/>
              <a:t> {</a:t>
            </a:r>
          </a:p>
          <a:p>
            <a:r>
              <a:rPr lang="es-ES" sz="1200" dirty="0" smtClean="0"/>
              <a:t>    </a:t>
            </a:r>
          </a:p>
          <a:p>
            <a:r>
              <a:rPr lang="es-ES" sz="1200" dirty="0" smtClean="0"/>
              <a:t>}</a:t>
            </a:r>
            <a:endParaRPr lang="es-ES" sz="1200" dirty="0"/>
          </a:p>
        </p:txBody>
      </p:sp>
      <p:sp>
        <p:nvSpPr>
          <p:cNvPr id="25" name="24 Rectángulo redondeado"/>
          <p:cNvSpPr/>
          <p:nvPr/>
        </p:nvSpPr>
        <p:spPr>
          <a:xfrm>
            <a:off x="6084168" y="4038804"/>
            <a:ext cx="2880320" cy="9361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6156176" y="4011910"/>
            <a:ext cx="2808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@</a:t>
            </a:r>
            <a:r>
              <a:rPr lang="es-ES" sz="1200" dirty="0" err="1" smtClean="0"/>
              <a:t>Service</a:t>
            </a:r>
            <a:endParaRPr lang="es-ES" sz="1200" dirty="0" smtClean="0"/>
          </a:p>
          <a:p>
            <a:r>
              <a:rPr lang="es-ES" sz="1200" dirty="0" err="1" smtClean="0"/>
              <a:t>public</a:t>
            </a:r>
            <a:r>
              <a:rPr lang="es-ES" sz="1200" dirty="0" smtClean="0"/>
              <a:t> </a:t>
            </a:r>
            <a:r>
              <a:rPr lang="es-ES" sz="1200" dirty="0" err="1" smtClean="0"/>
              <a:t>class</a:t>
            </a:r>
            <a:r>
              <a:rPr lang="es-ES" sz="1200" dirty="0" smtClean="0"/>
              <a:t> </a:t>
            </a:r>
            <a:r>
              <a:rPr lang="es-ES" sz="1200" dirty="0" err="1" smtClean="0"/>
              <a:t>ClaseService</a:t>
            </a:r>
            <a:r>
              <a:rPr lang="es-ES" sz="1200" dirty="0" smtClean="0"/>
              <a:t> </a:t>
            </a:r>
            <a:r>
              <a:rPr lang="es-ES" sz="1200" dirty="0" err="1" smtClean="0"/>
              <a:t>implements</a:t>
            </a:r>
            <a:r>
              <a:rPr lang="es-ES" sz="1200" dirty="0" smtClean="0"/>
              <a:t> </a:t>
            </a:r>
            <a:r>
              <a:rPr lang="es-ES" sz="1200" dirty="0" err="1" smtClean="0"/>
              <a:t>InterfazService</a:t>
            </a:r>
            <a:r>
              <a:rPr lang="es-ES" sz="1200" dirty="0" smtClean="0"/>
              <a:t> {</a:t>
            </a:r>
          </a:p>
          <a:p>
            <a:r>
              <a:rPr lang="es-ES" sz="1200" dirty="0" smtClean="0"/>
              <a:t>    </a:t>
            </a:r>
          </a:p>
          <a:p>
            <a:r>
              <a:rPr lang="es-ES" sz="1200" dirty="0" smtClean="0"/>
              <a:t>}</a:t>
            </a:r>
            <a:endParaRPr lang="es-ES" sz="1200" dirty="0"/>
          </a:p>
        </p:txBody>
      </p:sp>
      <p:cxnSp>
        <p:nvCxnSpPr>
          <p:cNvPr id="30" name="29 Conector recto de flecha"/>
          <p:cNvCxnSpPr/>
          <p:nvPr/>
        </p:nvCxnSpPr>
        <p:spPr>
          <a:xfrm flipH="1" flipV="1">
            <a:off x="7884368" y="3867894"/>
            <a:ext cx="288032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Forma libre"/>
          <p:cNvSpPr/>
          <p:nvPr/>
        </p:nvSpPr>
        <p:spPr>
          <a:xfrm>
            <a:off x="2864224" y="3774142"/>
            <a:ext cx="3213847" cy="569258"/>
          </a:xfrm>
          <a:custGeom>
            <a:avLst/>
            <a:gdLst>
              <a:gd name="connsiteX0" fmla="*/ 3213847 w 3213847"/>
              <a:gd name="connsiteY0" fmla="*/ 569258 h 569258"/>
              <a:gd name="connsiteX1" fmla="*/ 1775011 w 3213847"/>
              <a:gd name="connsiteY1" fmla="*/ 4482 h 569258"/>
              <a:gd name="connsiteX2" fmla="*/ 0 w 3213847"/>
              <a:gd name="connsiteY2" fmla="*/ 542364 h 56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3847" h="569258">
                <a:moveTo>
                  <a:pt x="3213847" y="569258"/>
                </a:moveTo>
                <a:cubicBezTo>
                  <a:pt x="2762249" y="289111"/>
                  <a:pt x="2310652" y="8964"/>
                  <a:pt x="1775011" y="4482"/>
                </a:cubicBezTo>
                <a:cubicBezTo>
                  <a:pt x="1239370" y="0"/>
                  <a:pt x="619685" y="271182"/>
                  <a:pt x="0" y="54236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del modelo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755576" y="1851670"/>
            <a:ext cx="7344816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dirty="0" smtClean="0"/>
              <a:t>@</a:t>
            </a:r>
            <a:r>
              <a:rPr lang="es-ES" dirty="0" err="1" smtClean="0"/>
              <a:t>ComponentScan</a:t>
            </a:r>
            <a:r>
              <a:rPr lang="es-ES" dirty="0" smtClean="0"/>
              <a:t>(</a:t>
            </a:r>
            <a:r>
              <a:rPr lang="es-ES" dirty="0" err="1" smtClean="0"/>
              <a:t>basePackages</a:t>
            </a:r>
            <a:r>
              <a:rPr lang="es-ES" dirty="0" smtClean="0"/>
              <a:t> = {"</a:t>
            </a:r>
            <a:r>
              <a:rPr lang="es-ES" dirty="0" err="1" smtClean="0"/>
              <a:t>com.formacion.service</a:t>
            </a:r>
            <a:r>
              <a:rPr lang="es-ES" dirty="0" smtClean="0"/>
              <a:t>"})</a:t>
            </a:r>
          </a:p>
          <a:p>
            <a:r>
              <a:rPr lang="es-ES" dirty="0" smtClean="0"/>
              <a:t>@</a:t>
            </a:r>
            <a:r>
              <a:rPr lang="es-ES" dirty="0" err="1" smtClean="0"/>
              <a:t>Configuration</a:t>
            </a:r>
            <a:endParaRPr lang="es-ES" dirty="0" smtClean="0"/>
          </a:p>
          <a:p>
            <a:r>
              <a:rPr lang="es-ES" b="1" dirty="0" err="1" smtClean="0"/>
              <a:t>public</a:t>
            </a:r>
            <a:r>
              <a:rPr lang="es-ES" b="1" dirty="0" smtClean="0"/>
              <a:t> </a:t>
            </a:r>
            <a:r>
              <a:rPr lang="es-ES" b="1" dirty="0" err="1" smtClean="0"/>
              <a:t>class</a:t>
            </a:r>
            <a:r>
              <a:rPr lang="es-ES" b="1" dirty="0" smtClean="0"/>
              <a:t> </a:t>
            </a:r>
            <a:r>
              <a:rPr lang="es-ES" b="1" dirty="0" err="1" smtClean="0"/>
              <a:t>SpringConfig</a:t>
            </a:r>
            <a:r>
              <a:rPr lang="es-ES" b="1" dirty="0" smtClean="0"/>
              <a:t> {</a:t>
            </a:r>
          </a:p>
          <a:p>
            <a:r>
              <a:rPr lang="es-ES" dirty="0" smtClean="0"/>
              <a:t>	//definición de métodos @</a:t>
            </a:r>
            <a:r>
              <a:rPr lang="es-ES" dirty="0" err="1" smtClean="0"/>
              <a:t>Bean</a:t>
            </a:r>
            <a:r>
              <a:rPr lang="es-ES" dirty="0" smtClean="0"/>
              <a:t> para instanciación</a:t>
            </a:r>
          </a:p>
          <a:p>
            <a:r>
              <a:rPr lang="es-ES" dirty="0" smtClean="0"/>
              <a:t>	//de objetos</a:t>
            </a:r>
          </a:p>
          <a:p>
            <a:r>
              <a:rPr lang="es-ES" dirty="0" smtClean="0"/>
              <a:t>}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3707904" y="98757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Paquete con clases a instanciar</a:t>
            </a:r>
            <a:endParaRPr lang="es-ES" sz="1200" dirty="0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4427984" y="1377231"/>
            <a:ext cx="1008112" cy="4744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El controlador en Spring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general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4283968" y="185167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Controladores de acción</a:t>
            </a:r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2123728" y="2283718"/>
            <a:ext cx="720080" cy="2232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 rot="16200000">
            <a:off x="1372291" y="317917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DispatcherServlet</a:t>
            </a:r>
            <a:endParaRPr lang="es-ES" dirty="0"/>
          </a:p>
        </p:txBody>
      </p:sp>
      <p:sp>
        <p:nvSpPr>
          <p:cNvPr id="16" name="15 CuadroTexto"/>
          <p:cNvSpPr txBox="1"/>
          <p:nvPr/>
        </p:nvSpPr>
        <p:spPr>
          <a:xfrm>
            <a:off x="1763688" y="185167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Front </a:t>
            </a:r>
            <a:r>
              <a:rPr lang="es-ES" dirty="0" err="1" smtClean="0"/>
              <a:t>controller</a:t>
            </a:r>
            <a:endParaRPr lang="es-ES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4355976" y="2283718"/>
            <a:ext cx="2880320" cy="8640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4499992" y="2283718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@</a:t>
            </a:r>
            <a:r>
              <a:rPr lang="es-ES" sz="1200" dirty="0" err="1" smtClean="0"/>
              <a:t>Controller</a:t>
            </a:r>
            <a:endParaRPr lang="es-ES" sz="1200" dirty="0" smtClean="0"/>
          </a:p>
          <a:p>
            <a:r>
              <a:rPr lang="es-ES" sz="1200" dirty="0" err="1" smtClean="0"/>
              <a:t>public</a:t>
            </a:r>
            <a:r>
              <a:rPr lang="es-ES" sz="1200" dirty="0" smtClean="0"/>
              <a:t> </a:t>
            </a:r>
            <a:r>
              <a:rPr lang="es-ES" sz="1200" dirty="0" err="1" smtClean="0"/>
              <a:t>class</a:t>
            </a:r>
            <a:r>
              <a:rPr lang="es-ES" sz="1200" dirty="0" smtClean="0"/>
              <a:t> ClaseController1 {</a:t>
            </a:r>
          </a:p>
          <a:p>
            <a:r>
              <a:rPr lang="es-ES" sz="1200" dirty="0" smtClean="0"/>
              <a:t>    </a:t>
            </a:r>
          </a:p>
          <a:p>
            <a:r>
              <a:rPr lang="es-ES" sz="1200" dirty="0" smtClean="0"/>
              <a:t>}</a:t>
            </a:r>
            <a:endParaRPr lang="es-ES" sz="1200" dirty="0"/>
          </a:p>
        </p:txBody>
      </p:sp>
      <p:sp>
        <p:nvSpPr>
          <p:cNvPr id="18" name="17 Rectángulo redondeado"/>
          <p:cNvSpPr/>
          <p:nvPr/>
        </p:nvSpPr>
        <p:spPr>
          <a:xfrm>
            <a:off x="4355976" y="3507854"/>
            <a:ext cx="2880320" cy="8640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CuadroTexto"/>
          <p:cNvSpPr txBox="1"/>
          <p:nvPr/>
        </p:nvSpPr>
        <p:spPr>
          <a:xfrm>
            <a:off x="4499992" y="3507854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@</a:t>
            </a:r>
            <a:r>
              <a:rPr lang="es-ES" sz="1200" dirty="0" err="1" smtClean="0"/>
              <a:t>Controller</a:t>
            </a:r>
            <a:endParaRPr lang="es-ES" sz="1200" dirty="0" smtClean="0"/>
          </a:p>
          <a:p>
            <a:r>
              <a:rPr lang="es-ES" sz="1200" dirty="0" err="1" smtClean="0"/>
              <a:t>public</a:t>
            </a:r>
            <a:r>
              <a:rPr lang="es-ES" sz="1200" dirty="0" smtClean="0"/>
              <a:t> </a:t>
            </a:r>
            <a:r>
              <a:rPr lang="es-ES" sz="1200" dirty="0" err="1" smtClean="0"/>
              <a:t>class</a:t>
            </a:r>
            <a:r>
              <a:rPr lang="es-ES" sz="1200" dirty="0" smtClean="0"/>
              <a:t> ClaseController2 {</a:t>
            </a:r>
          </a:p>
          <a:p>
            <a:r>
              <a:rPr lang="es-ES" sz="1200" dirty="0" smtClean="0"/>
              <a:t>    </a:t>
            </a:r>
          </a:p>
          <a:p>
            <a:r>
              <a:rPr lang="es-ES" sz="1200" dirty="0" smtClean="0"/>
              <a:t>}</a:t>
            </a:r>
            <a:endParaRPr lang="es-ES" sz="1200" dirty="0"/>
          </a:p>
        </p:txBody>
      </p:sp>
      <p:cxnSp>
        <p:nvCxnSpPr>
          <p:cNvPr id="21" name="20 Conector recto de flecha"/>
          <p:cNvCxnSpPr/>
          <p:nvPr/>
        </p:nvCxnSpPr>
        <p:spPr>
          <a:xfrm flipV="1">
            <a:off x="2843808" y="2499742"/>
            <a:ext cx="1512168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stCxn id="17" idx="1"/>
          </p:cNvCxnSpPr>
          <p:nvPr/>
        </p:nvCxnSpPr>
        <p:spPr>
          <a:xfrm flipH="1">
            <a:off x="2843808" y="2715766"/>
            <a:ext cx="1512168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>
            <a:off x="2843808" y="3579862"/>
            <a:ext cx="1512168" cy="144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18" idx="1"/>
          </p:cNvCxnSpPr>
          <p:nvPr/>
        </p:nvCxnSpPr>
        <p:spPr>
          <a:xfrm flipH="1" flipV="1">
            <a:off x="2843808" y="3795886"/>
            <a:ext cx="1512168" cy="144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1187624" y="3003798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>
            <a:off x="1187624" y="3363838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 Título"/>
          <p:cNvSpPr txBox="1">
            <a:spLocks/>
          </p:cNvSpPr>
          <p:nvPr/>
        </p:nvSpPr>
        <p:spPr>
          <a:xfrm>
            <a:off x="467544" y="987574"/>
            <a:ext cx="8134672" cy="232225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Además de Front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es-E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ontroller</a:t>
            </a: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Dispatcher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Servlet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inicia el framework Spring.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CuadroTexto"/>
          <p:cNvSpPr txBox="1"/>
          <p:nvPr/>
        </p:nvSpPr>
        <p:spPr>
          <a:xfrm>
            <a:off x="1403648" y="1779662"/>
            <a:ext cx="4968552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@</a:t>
            </a:r>
            <a:r>
              <a:rPr lang="es-ES" dirty="0" err="1" smtClean="0"/>
              <a:t>Controller</a:t>
            </a:r>
            <a:endParaRPr lang="es-ES" dirty="0" smtClean="0"/>
          </a:p>
          <a:p>
            <a:r>
              <a:rPr lang="es-ES" dirty="0" err="1" smtClean="0"/>
              <a:t>public</a:t>
            </a:r>
            <a:r>
              <a:rPr lang="es-ES" dirty="0" smtClean="0"/>
              <a:t> </a:t>
            </a:r>
            <a:r>
              <a:rPr lang="es-ES" dirty="0" err="1" smtClean="0"/>
              <a:t>class</a:t>
            </a:r>
            <a:r>
              <a:rPr lang="es-ES" dirty="0" smtClean="0"/>
              <a:t> ClaseController1 {</a:t>
            </a:r>
          </a:p>
          <a:p>
            <a:r>
              <a:rPr lang="es-ES" dirty="0" smtClean="0"/>
              <a:t>	@</a:t>
            </a:r>
            <a:r>
              <a:rPr lang="es-ES" dirty="0" err="1" smtClean="0"/>
              <a:t>GetMapping</a:t>
            </a:r>
            <a:r>
              <a:rPr lang="es-ES" dirty="0" smtClean="0"/>
              <a:t>(</a:t>
            </a:r>
            <a:r>
              <a:rPr lang="es-ES" dirty="0" err="1" smtClean="0"/>
              <a:t>value</a:t>
            </a:r>
            <a:r>
              <a:rPr lang="es-ES" dirty="0" smtClean="0"/>
              <a:t>=“</a:t>
            </a:r>
            <a:r>
              <a:rPr lang="es-ES" dirty="0" err="1" smtClean="0"/>
              <a:t>direccion</a:t>
            </a:r>
            <a:r>
              <a:rPr lang="es-ES" dirty="0" smtClean="0"/>
              <a:t>”)</a:t>
            </a:r>
          </a:p>
          <a:p>
            <a:r>
              <a:rPr lang="es-ES" dirty="0" smtClean="0"/>
              <a:t>	</a:t>
            </a:r>
            <a:r>
              <a:rPr lang="es-ES" dirty="0" err="1" smtClean="0"/>
              <a:t>public</a:t>
            </a:r>
            <a:r>
              <a:rPr lang="es-ES" dirty="0" smtClean="0"/>
              <a:t> </a:t>
            </a:r>
            <a:r>
              <a:rPr lang="es-ES" dirty="0" err="1" smtClean="0"/>
              <a:t>String</a:t>
            </a:r>
            <a:r>
              <a:rPr lang="es-ES" dirty="0" smtClean="0"/>
              <a:t> </a:t>
            </a:r>
            <a:r>
              <a:rPr lang="es-ES" dirty="0" err="1" smtClean="0"/>
              <a:t>metodo</a:t>
            </a:r>
            <a:r>
              <a:rPr lang="es-ES" dirty="0" smtClean="0"/>
              <a:t>(..){</a:t>
            </a:r>
          </a:p>
          <a:p>
            <a:r>
              <a:rPr lang="es-ES" dirty="0" smtClean="0"/>
              <a:t>		…</a:t>
            </a:r>
          </a:p>
          <a:p>
            <a:r>
              <a:rPr lang="es-ES" dirty="0" smtClean="0"/>
              <a:t>		</a:t>
            </a:r>
            <a:r>
              <a:rPr lang="es-ES" dirty="0" err="1" smtClean="0"/>
              <a:t>return</a:t>
            </a:r>
            <a:r>
              <a:rPr lang="es-ES" dirty="0" smtClean="0"/>
              <a:t> “pagina”;</a:t>
            </a:r>
          </a:p>
          <a:p>
            <a:r>
              <a:rPr lang="es-ES" dirty="0" smtClean="0"/>
              <a:t>	}    </a:t>
            </a:r>
          </a:p>
          <a:p>
            <a:endParaRPr lang="es-ES" dirty="0" smtClean="0"/>
          </a:p>
          <a:p>
            <a:r>
              <a:rPr lang="es-ES" dirty="0" smtClean="0"/>
              <a:t>}</a:t>
            </a:r>
            <a:endParaRPr lang="es-ES" dirty="0"/>
          </a:p>
        </p:txBody>
      </p:sp>
      <p:sp>
        <p:nvSpPr>
          <p:cNvPr id="2" name="1 Título"/>
          <p:cNvSpPr txBox="1">
            <a:spLocks/>
          </p:cNvSpPr>
          <p:nvPr/>
        </p:nvSpPr>
        <p:spPr>
          <a:xfrm>
            <a:off x="251520" y="195486"/>
            <a:ext cx="8712968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Métodos controladores de acción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31" name="30 Conector recto de flecha"/>
          <p:cNvCxnSpPr/>
          <p:nvPr/>
        </p:nvCxnSpPr>
        <p:spPr>
          <a:xfrm flipH="1">
            <a:off x="5292080" y="1491630"/>
            <a:ext cx="576064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5580112" y="1275606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Dirección asociada al controlador</a:t>
            </a:r>
            <a:endParaRPr lang="es-ES" sz="1200" dirty="0"/>
          </a:p>
        </p:txBody>
      </p:sp>
      <p:cxnSp>
        <p:nvCxnSpPr>
          <p:cNvPr id="34" name="33 Conector recto de flecha"/>
          <p:cNvCxnSpPr/>
          <p:nvPr/>
        </p:nvCxnSpPr>
        <p:spPr>
          <a:xfrm flipH="1" flipV="1">
            <a:off x="4427984" y="3435846"/>
            <a:ext cx="144016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3131840" y="4587974"/>
            <a:ext cx="3312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Nombre de la página JSP de respuesta</a:t>
            </a:r>
            <a:endParaRPr lang="es-ES" sz="1200" dirty="0"/>
          </a:p>
        </p:txBody>
      </p:sp>
      <p:cxnSp>
        <p:nvCxnSpPr>
          <p:cNvPr id="37" name="36 Conector recto de flecha"/>
          <p:cNvCxnSpPr/>
          <p:nvPr/>
        </p:nvCxnSpPr>
        <p:spPr>
          <a:xfrm flipH="1" flipV="1">
            <a:off x="4932040" y="2859782"/>
            <a:ext cx="180020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6551712" y="3435846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El método puede recibir diferentes tipos y variedad de parámetros</a:t>
            </a:r>
            <a:endParaRPr lang="es-E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del controlador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1547664" y="1336576"/>
            <a:ext cx="7344816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400" dirty="0" smtClean="0"/>
              <a:t>@</a:t>
            </a:r>
            <a:r>
              <a:rPr lang="es-ES" sz="1400" dirty="0" err="1" smtClean="0"/>
              <a:t>ComponentScan</a:t>
            </a:r>
            <a:r>
              <a:rPr lang="es-ES" sz="1400" dirty="0" smtClean="0"/>
              <a:t>(</a:t>
            </a:r>
            <a:r>
              <a:rPr lang="es-ES" sz="1400" dirty="0" err="1" smtClean="0"/>
              <a:t>basePackages</a:t>
            </a:r>
            <a:r>
              <a:rPr lang="es-ES" sz="1400" dirty="0" smtClean="0"/>
              <a:t>= {"</a:t>
            </a:r>
            <a:r>
              <a:rPr lang="es-ES" sz="1400" dirty="0" err="1" smtClean="0"/>
              <a:t>com.formacion.controller</a:t>
            </a:r>
            <a:r>
              <a:rPr lang="es-ES" sz="1400" dirty="0" smtClean="0"/>
              <a:t>"})</a:t>
            </a:r>
          </a:p>
          <a:p>
            <a:r>
              <a:rPr lang="es-ES" sz="1400" dirty="0" smtClean="0"/>
              <a:t>@</a:t>
            </a:r>
            <a:r>
              <a:rPr lang="es-ES" sz="1400" dirty="0" err="1" smtClean="0"/>
              <a:t>EnableWebMvc</a:t>
            </a:r>
            <a:endParaRPr lang="es-ES" sz="1400" dirty="0" smtClean="0"/>
          </a:p>
          <a:p>
            <a:r>
              <a:rPr lang="es-ES" sz="1400" dirty="0" smtClean="0"/>
              <a:t>@</a:t>
            </a:r>
            <a:r>
              <a:rPr lang="es-ES" sz="1400" dirty="0" err="1" smtClean="0"/>
              <a:t>Configuration</a:t>
            </a:r>
            <a:endParaRPr lang="es-ES" sz="1400" dirty="0" smtClean="0"/>
          </a:p>
          <a:p>
            <a:r>
              <a:rPr lang="en-US" sz="1400" dirty="0" smtClean="0"/>
              <a:t>public class </a:t>
            </a:r>
            <a:r>
              <a:rPr lang="en-US" sz="1400" dirty="0" err="1" smtClean="0"/>
              <a:t>MvcConfig</a:t>
            </a:r>
            <a:r>
              <a:rPr lang="en-US" sz="1400" dirty="0" smtClean="0"/>
              <a:t> implements </a:t>
            </a:r>
            <a:r>
              <a:rPr lang="en-US" sz="1400" dirty="0" err="1" smtClean="0"/>
              <a:t>WebMvcConfigurer</a:t>
            </a:r>
            <a:r>
              <a:rPr lang="en-US" sz="1400" dirty="0" smtClean="0"/>
              <a:t>{</a:t>
            </a:r>
          </a:p>
          <a:p>
            <a:r>
              <a:rPr lang="es-ES" sz="1400" dirty="0" smtClean="0"/>
              <a:t>@</a:t>
            </a:r>
            <a:r>
              <a:rPr lang="es-ES" sz="1400" dirty="0" err="1" smtClean="0"/>
              <a:t>Bean</a:t>
            </a:r>
            <a:endParaRPr lang="es-ES" sz="1400" dirty="0" smtClean="0"/>
          </a:p>
          <a:p>
            <a:r>
              <a:rPr lang="es-ES" sz="1400" dirty="0" smtClean="0"/>
              <a:t> </a:t>
            </a:r>
            <a:r>
              <a:rPr lang="es-ES" sz="1400" dirty="0" err="1" smtClean="0"/>
              <a:t>public</a:t>
            </a:r>
            <a:r>
              <a:rPr lang="es-ES" sz="1400" dirty="0" smtClean="0"/>
              <a:t> </a:t>
            </a:r>
            <a:r>
              <a:rPr lang="es-ES" sz="1400" dirty="0" err="1" smtClean="0"/>
              <a:t>InternalResourceViewResolver</a:t>
            </a:r>
            <a:r>
              <a:rPr lang="es-ES" sz="1400" dirty="0" smtClean="0"/>
              <a:t> </a:t>
            </a:r>
            <a:r>
              <a:rPr lang="es-ES" sz="1400" dirty="0" err="1" smtClean="0"/>
              <a:t>getInternalResourceViewResolver</a:t>
            </a:r>
            <a:r>
              <a:rPr lang="es-ES" sz="1400" dirty="0" smtClean="0"/>
              <a:t>() {</a:t>
            </a:r>
          </a:p>
          <a:p>
            <a:r>
              <a:rPr lang="es-ES" sz="1400" dirty="0" smtClean="0"/>
              <a:t>    </a:t>
            </a:r>
            <a:r>
              <a:rPr lang="es-ES" sz="1400" dirty="0" err="1" smtClean="0"/>
              <a:t>InternalResourceViewResolver</a:t>
            </a:r>
            <a:r>
              <a:rPr lang="es-ES" sz="1400" dirty="0" smtClean="0"/>
              <a:t> resolver = new </a:t>
            </a:r>
            <a:r>
              <a:rPr lang="es-ES" sz="1400" dirty="0" err="1" smtClean="0"/>
              <a:t>InternalResourceViewResolver</a:t>
            </a:r>
            <a:r>
              <a:rPr lang="es-ES" sz="1400" dirty="0" smtClean="0"/>
              <a:t>();</a:t>
            </a:r>
          </a:p>
          <a:p>
            <a:r>
              <a:rPr lang="es-ES" sz="1400" dirty="0" smtClean="0"/>
              <a:t>    </a:t>
            </a:r>
            <a:r>
              <a:rPr lang="es-ES" sz="1400" dirty="0" err="1" smtClean="0"/>
              <a:t>resolver.setPrefix</a:t>
            </a:r>
            <a:r>
              <a:rPr lang="es-ES" sz="1400" dirty="0" smtClean="0"/>
              <a:t>("/");</a:t>
            </a:r>
          </a:p>
          <a:p>
            <a:r>
              <a:rPr lang="es-ES" sz="1400" dirty="0" smtClean="0"/>
              <a:t>    </a:t>
            </a:r>
            <a:r>
              <a:rPr lang="es-ES" sz="1400" dirty="0" err="1" smtClean="0"/>
              <a:t>resolver.setSuffix</a:t>
            </a:r>
            <a:r>
              <a:rPr lang="es-ES" sz="1400" dirty="0" smtClean="0"/>
              <a:t>(".</a:t>
            </a:r>
            <a:r>
              <a:rPr lang="es-ES" sz="1400" dirty="0" err="1" smtClean="0"/>
              <a:t>jsp</a:t>
            </a:r>
            <a:r>
              <a:rPr lang="es-ES" sz="1400" dirty="0" smtClean="0"/>
              <a:t>");</a:t>
            </a:r>
          </a:p>
          <a:p>
            <a:r>
              <a:rPr lang="es-ES" sz="1400" dirty="0" smtClean="0"/>
              <a:t>    </a:t>
            </a:r>
            <a:r>
              <a:rPr lang="es-ES" sz="1400" dirty="0" err="1" smtClean="0"/>
              <a:t>return</a:t>
            </a:r>
            <a:r>
              <a:rPr lang="es-ES" sz="1400" dirty="0" smtClean="0"/>
              <a:t> resolver;</a:t>
            </a:r>
          </a:p>
          <a:p>
            <a:r>
              <a:rPr lang="es-ES" sz="1400" dirty="0" smtClean="0"/>
              <a:t> }</a:t>
            </a:r>
          </a:p>
          <a:p>
            <a:r>
              <a:rPr lang="es-ES" sz="1400" dirty="0" smtClean="0"/>
              <a:t>@</a:t>
            </a:r>
            <a:r>
              <a:rPr lang="es-ES" sz="1400" dirty="0" err="1" smtClean="0"/>
              <a:t>Override</a:t>
            </a:r>
            <a:endParaRPr lang="es-ES" sz="1400" dirty="0" smtClean="0"/>
          </a:p>
          <a:p>
            <a:r>
              <a:rPr lang="es-ES" sz="1400" dirty="0" smtClean="0"/>
              <a:t>    </a:t>
            </a:r>
            <a:r>
              <a:rPr lang="es-ES" sz="1400" dirty="0" err="1" smtClean="0"/>
              <a:t>public</a:t>
            </a:r>
            <a:r>
              <a:rPr lang="es-ES" sz="1400" dirty="0" smtClean="0"/>
              <a:t> </a:t>
            </a:r>
            <a:r>
              <a:rPr lang="es-ES" sz="1400" dirty="0" err="1" smtClean="0"/>
              <a:t>void</a:t>
            </a:r>
            <a:r>
              <a:rPr lang="es-ES" sz="1400" dirty="0" smtClean="0"/>
              <a:t> </a:t>
            </a:r>
            <a:r>
              <a:rPr lang="es-ES" sz="1400" dirty="0" err="1" smtClean="0"/>
              <a:t>addViewControllers</a:t>
            </a:r>
            <a:r>
              <a:rPr lang="es-ES" sz="1400" dirty="0" smtClean="0"/>
              <a:t>(</a:t>
            </a:r>
            <a:r>
              <a:rPr lang="es-ES" sz="1400" dirty="0" err="1" smtClean="0"/>
              <a:t>ViewControllerRegistry</a:t>
            </a:r>
            <a:r>
              <a:rPr lang="es-ES" sz="1400" dirty="0" smtClean="0"/>
              <a:t> </a:t>
            </a:r>
            <a:r>
              <a:rPr lang="es-ES" sz="1400" dirty="0" err="1" smtClean="0"/>
              <a:t>registry</a:t>
            </a:r>
            <a:r>
              <a:rPr lang="es-ES" sz="1400" dirty="0" smtClean="0"/>
              <a:t>) {</a:t>
            </a:r>
          </a:p>
          <a:p>
            <a:r>
              <a:rPr lang="es-ES" sz="1400" dirty="0" smtClean="0"/>
              <a:t>        </a:t>
            </a:r>
            <a:r>
              <a:rPr lang="es-ES" sz="1400" dirty="0" err="1" smtClean="0"/>
              <a:t>registry.addViewController</a:t>
            </a:r>
            <a:r>
              <a:rPr lang="es-ES" sz="1400" dirty="0" smtClean="0"/>
              <a:t>("/volver").</a:t>
            </a:r>
            <a:r>
              <a:rPr lang="es-ES" sz="1400" dirty="0" err="1" smtClean="0"/>
              <a:t>setViewName</a:t>
            </a:r>
            <a:r>
              <a:rPr lang="es-ES" sz="1400" dirty="0" smtClean="0"/>
              <a:t>("datos");</a:t>
            </a:r>
          </a:p>
          <a:p>
            <a:r>
              <a:rPr lang="es-ES" sz="1400" dirty="0" smtClean="0"/>
              <a:t>    }   </a:t>
            </a:r>
          </a:p>
          <a:p>
            <a:r>
              <a:rPr lang="es-ES" sz="1400" dirty="0" smtClean="0"/>
              <a:t>}</a:t>
            </a:r>
            <a:endParaRPr lang="es-ES" sz="1400" dirty="0"/>
          </a:p>
        </p:txBody>
      </p:sp>
      <p:cxnSp>
        <p:nvCxnSpPr>
          <p:cNvPr id="18" name="17 Conector recto de flecha"/>
          <p:cNvCxnSpPr/>
          <p:nvPr/>
        </p:nvCxnSpPr>
        <p:spPr>
          <a:xfrm flipV="1">
            <a:off x="971600" y="4072880"/>
            <a:ext cx="86409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179512" y="3928864"/>
            <a:ext cx="1259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Navegaciones estáticas</a:t>
            </a:r>
            <a:endParaRPr lang="es-ES" sz="1000" dirty="0"/>
          </a:p>
        </p:txBody>
      </p:sp>
      <p:cxnSp>
        <p:nvCxnSpPr>
          <p:cNvPr id="7" name="6 Conector recto de flecha"/>
          <p:cNvCxnSpPr/>
          <p:nvPr/>
        </p:nvCxnSpPr>
        <p:spPr>
          <a:xfrm flipV="1">
            <a:off x="899592" y="2560712"/>
            <a:ext cx="792088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179512" y="277673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objeto para resolver las vistas</a:t>
            </a:r>
            <a:endParaRPr lang="es-ES" sz="1000" dirty="0"/>
          </a:p>
        </p:txBody>
      </p:sp>
      <p:sp>
        <p:nvSpPr>
          <p:cNvPr id="9" name="8 CuadroTexto"/>
          <p:cNvSpPr txBox="1"/>
          <p:nvPr/>
        </p:nvSpPr>
        <p:spPr>
          <a:xfrm>
            <a:off x="251520" y="915566"/>
            <a:ext cx="23762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Paquete con clases a instanciar</a:t>
            </a:r>
            <a:endParaRPr lang="es-ES" sz="10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2339752" y="1059582"/>
            <a:ext cx="2232248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100" b="1" noProof="0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Web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467544" y="987574"/>
            <a:ext cx="8134672" cy="232225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Se debe definir una clase de configuración para Java EE que cargue el </a:t>
            </a:r>
            <a:r>
              <a:rPr kumimoji="0" lang="es-E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front</a:t>
            </a: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s-E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controller</a:t>
            </a:r>
            <a:r>
              <a:rPr kumimoji="0" lang="es-E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y registre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las clases de configuración de Spring: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984570" y="2034596"/>
            <a:ext cx="7488832" cy="30162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smtClean="0"/>
              <a:t>//configuración para Java EE</a:t>
            </a:r>
          </a:p>
          <a:p>
            <a:r>
              <a:rPr lang="es-ES" sz="1000" dirty="0" err="1" smtClean="0"/>
              <a:t>public</a:t>
            </a:r>
            <a:r>
              <a:rPr lang="es-ES" sz="1000" dirty="0" smtClean="0"/>
              <a:t> </a:t>
            </a:r>
            <a:r>
              <a:rPr lang="es-ES" sz="1000" dirty="0" err="1" smtClean="0"/>
              <a:t>class</a:t>
            </a:r>
            <a:r>
              <a:rPr lang="es-ES" sz="1000" dirty="0" smtClean="0"/>
              <a:t> </a:t>
            </a:r>
            <a:r>
              <a:rPr lang="es-ES" sz="1000" dirty="0" err="1" smtClean="0"/>
              <a:t>InitConfig</a:t>
            </a:r>
            <a:r>
              <a:rPr lang="es-ES" sz="1000" dirty="0" smtClean="0"/>
              <a:t> </a:t>
            </a:r>
            <a:r>
              <a:rPr lang="es-ES" sz="1000" dirty="0" err="1" smtClean="0"/>
              <a:t>implements</a:t>
            </a:r>
            <a:r>
              <a:rPr lang="es-ES" sz="1000" dirty="0" smtClean="0"/>
              <a:t> </a:t>
            </a:r>
            <a:r>
              <a:rPr lang="es-ES" sz="1000" dirty="0" err="1" smtClean="0"/>
              <a:t>WebApplicationInitializer</a:t>
            </a:r>
            <a:r>
              <a:rPr lang="es-ES" sz="1000" dirty="0" smtClean="0"/>
              <a:t> {</a:t>
            </a:r>
          </a:p>
          <a:p>
            <a:r>
              <a:rPr lang="es-ES" sz="1000" dirty="0" smtClean="0"/>
              <a:t>  @</a:t>
            </a:r>
            <a:r>
              <a:rPr lang="es-ES" sz="1000" dirty="0" err="1" smtClean="0"/>
              <a:t>Override</a:t>
            </a:r>
            <a:endParaRPr lang="es-ES" sz="1000" dirty="0" smtClean="0"/>
          </a:p>
          <a:p>
            <a:r>
              <a:rPr lang="es-ES" sz="1000" dirty="0" smtClean="0"/>
              <a:t>  </a:t>
            </a:r>
            <a:r>
              <a:rPr lang="es-ES" sz="1000" dirty="0" err="1" smtClean="0"/>
              <a:t>public</a:t>
            </a:r>
            <a:r>
              <a:rPr lang="es-ES" sz="1000" dirty="0" smtClean="0"/>
              <a:t> </a:t>
            </a:r>
            <a:r>
              <a:rPr lang="es-ES" sz="1000" dirty="0" err="1" smtClean="0"/>
              <a:t>void</a:t>
            </a:r>
            <a:r>
              <a:rPr lang="es-ES" sz="1000" dirty="0" smtClean="0"/>
              <a:t> </a:t>
            </a:r>
            <a:r>
              <a:rPr lang="es-ES" sz="1000" dirty="0" err="1" smtClean="0"/>
              <a:t>onStartup</a:t>
            </a:r>
            <a:r>
              <a:rPr lang="es-ES" sz="1000" dirty="0" smtClean="0"/>
              <a:t>(</a:t>
            </a:r>
            <a:r>
              <a:rPr lang="es-ES" sz="1000" dirty="0" err="1" smtClean="0"/>
              <a:t>ServletContext</a:t>
            </a:r>
            <a:r>
              <a:rPr lang="es-ES" sz="1000" dirty="0" smtClean="0"/>
              <a:t> </a:t>
            </a:r>
            <a:r>
              <a:rPr lang="es-ES" sz="1000" dirty="0" err="1" smtClean="0"/>
              <a:t>container</a:t>
            </a:r>
            <a:r>
              <a:rPr lang="es-ES" sz="1000" dirty="0" smtClean="0"/>
              <a:t>) {</a:t>
            </a:r>
          </a:p>
          <a:p>
            <a:r>
              <a:rPr lang="es-ES" sz="1000" dirty="0" smtClean="0"/>
              <a:t>    // Registra la clase de configuración del modelo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AnnotationConfigWebApplicationContext</a:t>
            </a:r>
            <a:r>
              <a:rPr lang="es-ES" sz="1000" dirty="0" smtClean="0"/>
              <a:t> </a:t>
            </a:r>
            <a:r>
              <a:rPr lang="es-ES" sz="1000" dirty="0" err="1" smtClean="0"/>
              <a:t>rootContext</a:t>
            </a:r>
            <a:r>
              <a:rPr lang="es-ES" sz="1000" dirty="0" smtClean="0"/>
              <a:t> =new </a:t>
            </a:r>
            <a:r>
              <a:rPr lang="es-ES" sz="1000" dirty="0" err="1" smtClean="0"/>
              <a:t>AnnotationConfigWebApplicationContext</a:t>
            </a:r>
            <a:r>
              <a:rPr lang="es-ES" sz="1000" dirty="0" smtClean="0"/>
              <a:t>();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rootContext.register</a:t>
            </a:r>
            <a:r>
              <a:rPr lang="es-ES" sz="1000" dirty="0" smtClean="0"/>
              <a:t>(</a:t>
            </a:r>
            <a:r>
              <a:rPr lang="es-ES" sz="1000" dirty="0" err="1" smtClean="0"/>
              <a:t>ServiceConfig.class</a:t>
            </a:r>
            <a:r>
              <a:rPr lang="es-ES" sz="1000" dirty="0" smtClean="0"/>
              <a:t>);</a:t>
            </a:r>
          </a:p>
          <a:p>
            <a:r>
              <a:rPr lang="es-ES" sz="1000" dirty="0" smtClean="0"/>
              <a:t>    // Registra la clase de configuración del controlador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AnnotationConfigWebApplicationContext</a:t>
            </a:r>
            <a:r>
              <a:rPr lang="es-ES" sz="1000" dirty="0" smtClean="0"/>
              <a:t> </a:t>
            </a:r>
            <a:r>
              <a:rPr lang="es-ES" sz="1000" dirty="0" err="1" smtClean="0"/>
              <a:t>dispatcherContext</a:t>
            </a:r>
            <a:r>
              <a:rPr lang="es-ES" sz="1000" dirty="0" smtClean="0"/>
              <a:t> =new </a:t>
            </a:r>
            <a:r>
              <a:rPr lang="es-ES" sz="1000" dirty="0" err="1" smtClean="0"/>
              <a:t>AnnotationConfigWebApplicationContext</a:t>
            </a:r>
            <a:r>
              <a:rPr lang="es-ES" sz="1000" dirty="0" smtClean="0"/>
              <a:t>();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dispatcherContext.register</a:t>
            </a:r>
            <a:r>
              <a:rPr lang="es-ES" sz="1000" dirty="0" smtClean="0"/>
              <a:t>(</a:t>
            </a:r>
            <a:r>
              <a:rPr lang="es-ES" sz="1000" dirty="0" err="1" smtClean="0"/>
              <a:t>ControllerConfig.class</a:t>
            </a:r>
            <a:r>
              <a:rPr lang="es-ES" sz="1000" dirty="0" smtClean="0"/>
              <a:t>);</a:t>
            </a:r>
          </a:p>
          <a:p>
            <a:r>
              <a:rPr lang="es-ES" sz="1000" dirty="0" smtClean="0"/>
              <a:t>    // Gestiona el ciclo de vida del contexto de aplicación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container.addListener</a:t>
            </a:r>
            <a:r>
              <a:rPr lang="es-ES" sz="1000" dirty="0" smtClean="0"/>
              <a:t>(new </a:t>
            </a:r>
            <a:r>
              <a:rPr lang="es-ES" sz="1000" dirty="0" err="1" smtClean="0"/>
              <a:t>ContextLoaderListener</a:t>
            </a:r>
            <a:r>
              <a:rPr lang="es-ES" sz="1000" dirty="0" smtClean="0"/>
              <a:t>(</a:t>
            </a:r>
            <a:r>
              <a:rPr lang="es-ES" sz="1000" dirty="0" err="1" smtClean="0"/>
              <a:t>rootContext</a:t>
            </a:r>
            <a:r>
              <a:rPr lang="es-ES" sz="1000" dirty="0" smtClean="0"/>
              <a:t>)); </a:t>
            </a:r>
          </a:p>
          <a:p>
            <a:r>
              <a:rPr lang="es-ES" sz="1000" dirty="0" smtClean="0"/>
              <a:t>    // Crea y registra el </a:t>
            </a:r>
            <a:r>
              <a:rPr lang="es-ES" sz="1000" dirty="0" err="1" smtClean="0"/>
              <a:t>DispatcherServlet</a:t>
            </a:r>
            <a:endParaRPr lang="es-ES" sz="1000" dirty="0" smtClean="0"/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ServletRegistration.Dynamic</a:t>
            </a:r>
            <a:r>
              <a:rPr lang="es-ES" sz="1000" dirty="0" smtClean="0"/>
              <a:t> </a:t>
            </a:r>
            <a:r>
              <a:rPr lang="es-ES" sz="1000" dirty="0" err="1" smtClean="0"/>
              <a:t>dispatcher</a:t>
            </a:r>
            <a:r>
              <a:rPr lang="es-ES" sz="1000" dirty="0" smtClean="0"/>
              <a:t> =</a:t>
            </a:r>
          </a:p>
          <a:p>
            <a:r>
              <a:rPr lang="es-ES" sz="1000" dirty="0" smtClean="0"/>
              <a:t>      </a:t>
            </a:r>
            <a:r>
              <a:rPr lang="es-ES" sz="1000" dirty="0" err="1" smtClean="0"/>
              <a:t>container.addServlet</a:t>
            </a:r>
            <a:r>
              <a:rPr lang="es-ES" sz="1000" dirty="0" smtClean="0"/>
              <a:t>("</a:t>
            </a:r>
            <a:r>
              <a:rPr lang="es-ES" sz="1000" dirty="0" err="1" smtClean="0"/>
              <a:t>dispatcher</a:t>
            </a:r>
            <a:r>
              <a:rPr lang="es-ES" sz="1000" dirty="0" smtClean="0"/>
              <a:t>", new </a:t>
            </a:r>
            <a:r>
              <a:rPr lang="es-ES" sz="1000" dirty="0" err="1" smtClean="0"/>
              <a:t>DispatcherServlet</a:t>
            </a:r>
            <a:r>
              <a:rPr lang="es-ES" sz="1000" dirty="0" smtClean="0"/>
              <a:t>(</a:t>
            </a:r>
            <a:r>
              <a:rPr lang="es-ES" sz="1000" dirty="0" err="1" smtClean="0"/>
              <a:t>dispatcherContext</a:t>
            </a:r>
            <a:r>
              <a:rPr lang="es-ES" sz="1000" dirty="0" smtClean="0"/>
              <a:t>));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dispatcher.setLoadOnStartup</a:t>
            </a:r>
            <a:r>
              <a:rPr lang="es-ES" sz="1000" dirty="0" smtClean="0"/>
              <a:t>(1);</a:t>
            </a:r>
          </a:p>
          <a:p>
            <a:r>
              <a:rPr lang="es-ES" sz="1000" dirty="0" smtClean="0"/>
              <a:t>    </a:t>
            </a:r>
            <a:r>
              <a:rPr lang="es-ES" sz="1000" dirty="0" err="1" smtClean="0"/>
              <a:t>dispatcher.addMapping</a:t>
            </a:r>
            <a:r>
              <a:rPr lang="es-ES" sz="1000" dirty="0" smtClean="0"/>
              <a:t>("/");</a:t>
            </a:r>
          </a:p>
          <a:p>
            <a:r>
              <a:rPr lang="es-ES" sz="1000" dirty="0" smtClean="0"/>
              <a:t>  }</a:t>
            </a:r>
          </a:p>
          <a:p>
            <a:r>
              <a:rPr lang="es-ES" sz="1000" dirty="0" smtClean="0"/>
              <a:t>}</a:t>
            </a:r>
            <a:endParaRPr lang="es-E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Vistas con Spring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 Server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Pages</a:t>
            </a: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(JSP)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611560" y="843558"/>
            <a:ext cx="7920880" cy="122413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Componente que forma parte de una aplicación Web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JavaEE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Archivo de texto en el que se combinan bloques HTML con código Java (scriptlet) que se ejecuta en </a:t>
            </a:r>
            <a:r>
              <a:rPr lang="es-ES" sz="2000" b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el servidor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Adecuado para la generación de respuestas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2771800" y="2499742"/>
            <a:ext cx="1008112" cy="1152128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2915816" y="213970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.</a:t>
            </a:r>
            <a:r>
              <a:rPr lang="es-ES" dirty="0" err="1" smtClean="0"/>
              <a:t>jsp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2812918" y="2577928"/>
            <a:ext cx="936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HTML</a:t>
            </a:r>
          </a:p>
          <a:p>
            <a:pPr algn="ctr"/>
            <a:r>
              <a:rPr lang="es-ES" dirty="0" smtClean="0"/>
              <a:t>+</a:t>
            </a:r>
          </a:p>
          <a:p>
            <a:pPr algn="ctr"/>
            <a:r>
              <a:rPr lang="es-ES" dirty="0" smtClean="0"/>
              <a:t>Java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Código Java en JSP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" name="1 Título"/>
          <p:cNvSpPr txBox="1">
            <a:spLocks/>
          </p:cNvSpPr>
          <p:nvPr/>
        </p:nvSpPr>
        <p:spPr>
          <a:xfrm>
            <a:off x="611560" y="987574"/>
            <a:ext cx="7416824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delimita por &lt;% y %&gt;. Pueden aparecer en cualquier parte de la página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Puede ser: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Scriptlet. Bloque Java que realiza alguna tarea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Expresión. Devuelve un resultado a la página 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3147814"/>
            <a:ext cx="2668141" cy="168143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1043608" y="3363838"/>
            <a:ext cx="3816424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smtClean="0"/>
              <a:t>&lt;</a:t>
            </a:r>
            <a:r>
              <a:rPr lang="es-ES" sz="1000" dirty="0" err="1" smtClean="0"/>
              <a:t>body</a:t>
            </a:r>
            <a:r>
              <a:rPr lang="es-ES" sz="1000" dirty="0" smtClean="0"/>
              <a:t>&gt;</a:t>
            </a:r>
          </a:p>
          <a:p>
            <a:r>
              <a:rPr lang="es-ES" sz="1000" dirty="0" smtClean="0"/>
              <a:t>  &lt;center&gt;</a:t>
            </a:r>
          </a:p>
          <a:p>
            <a:r>
              <a:rPr lang="es-ES" sz="1000" dirty="0" smtClean="0"/>
              <a:t>    &lt;%</a:t>
            </a:r>
            <a:r>
              <a:rPr lang="es-ES" sz="1000" dirty="0" err="1" smtClean="0"/>
              <a:t>for</a:t>
            </a:r>
            <a:r>
              <a:rPr lang="es-ES" sz="1000" dirty="0" smtClean="0"/>
              <a:t>(</a:t>
            </a:r>
            <a:r>
              <a:rPr lang="es-ES" sz="1000" dirty="0" err="1" smtClean="0"/>
              <a:t>int</a:t>
            </a:r>
            <a:r>
              <a:rPr lang="es-ES" sz="1000" dirty="0" smtClean="0"/>
              <a:t> i=1;i&lt;=6;i++){ %&gt;</a:t>
            </a:r>
          </a:p>
          <a:p>
            <a:r>
              <a:rPr lang="pt-BR" sz="1000" dirty="0" smtClean="0"/>
              <a:t>      &lt;h&lt;%=i%&gt;&gt; </a:t>
            </a:r>
            <a:r>
              <a:rPr lang="pt-BR" sz="1000" dirty="0" err="1" smtClean="0"/>
              <a:t>Bienvendio</a:t>
            </a:r>
            <a:r>
              <a:rPr lang="pt-BR" sz="1000" dirty="0" smtClean="0"/>
              <a:t> a mi página&lt;/h&lt;%=i%&gt;&gt;</a:t>
            </a:r>
          </a:p>
          <a:p>
            <a:r>
              <a:rPr lang="es-ES" sz="1000" dirty="0" smtClean="0"/>
              <a:t>    &lt;%} %&gt;</a:t>
            </a:r>
          </a:p>
          <a:p>
            <a:r>
              <a:rPr lang="es-ES" sz="1000" dirty="0" smtClean="0"/>
              <a:t>  &lt;/center&gt;</a:t>
            </a:r>
          </a:p>
          <a:p>
            <a:r>
              <a:rPr lang="es-ES" sz="1000" dirty="0" smtClean="0"/>
              <a:t>&lt;/</a:t>
            </a:r>
            <a:r>
              <a:rPr lang="es-ES" sz="1000" dirty="0" err="1" smtClean="0"/>
              <a:t>body</a:t>
            </a:r>
            <a:r>
              <a:rPr lang="es-ES" sz="1000" dirty="0" smtClean="0"/>
              <a:t>&gt;</a:t>
            </a:r>
            <a:endParaRPr lang="es-ES" sz="1000" dirty="0"/>
          </a:p>
        </p:txBody>
      </p:sp>
      <p:sp>
        <p:nvSpPr>
          <p:cNvPr id="6" name="5 CuadroTexto"/>
          <p:cNvSpPr txBox="1"/>
          <p:nvPr/>
        </p:nvSpPr>
        <p:spPr>
          <a:xfrm>
            <a:off x="107504" y="32918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scriptlet</a:t>
            </a:r>
            <a:endParaRPr lang="es-ES" sz="1000" dirty="0"/>
          </a:p>
        </p:txBody>
      </p:sp>
      <p:cxnSp>
        <p:nvCxnSpPr>
          <p:cNvPr id="8" name="7 Conector recto de flecha"/>
          <p:cNvCxnSpPr>
            <a:stCxn id="6" idx="2"/>
          </p:cNvCxnSpPr>
          <p:nvPr/>
        </p:nvCxnSpPr>
        <p:spPr>
          <a:xfrm>
            <a:off x="503548" y="3538051"/>
            <a:ext cx="828092" cy="257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>
            <a:stCxn id="6" idx="2"/>
          </p:cNvCxnSpPr>
          <p:nvPr/>
        </p:nvCxnSpPr>
        <p:spPr>
          <a:xfrm>
            <a:off x="503548" y="3538051"/>
            <a:ext cx="828092" cy="5458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3203848" y="4773801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expresión</a:t>
            </a:r>
            <a:endParaRPr lang="es-ES" sz="1000" dirty="0"/>
          </a:p>
        </p:txBody>
      </p:sp>
      <p:cxnSp>
        <p:nvCxnSpPr>
          <p:cNvPr id="13" name="12 Conector recto de flecha"/>
          <p:cNvCxnSpPr/>
          <p:nvPr/>
        </p:nvCxnSpPr>
        <p:spPr>
          <a:xfrm flipH="1" flipV="1">
            <a:off x="1907704" y="4011910"/>
            <a:ext cx="158417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flipV="1">
            <a:off x="3563888" y="4011910"/>
            <a:ext cx="57606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Objetos implícitos JSP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611560" y="843558"/>
            <a:ext cx="7416824" cy="122413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Dentro de un scriptlet podemos hacer uso de una serie de objetos implícitos: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request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Instancia de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HttpServletRequest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response. 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Instancia de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HttpServletResponse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session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Instancia de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HttpSSession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application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Instancia de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ServletContext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exception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Instancia de excepción creada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out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Objeto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PrintWriter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 salida Http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Componente que forma parte de una aplicación Web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Adecuado para la generación de respuestas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Thymeleaf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611560" y="843558"/>
            <a:ext cx="7920880" cy="122413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Basado en la utilización de páginas HTML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Mejora el rendimiento respecto a JSP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El contenido dinámico se genera mediante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tags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especiales que se utilizan como atributos de etiquetas HTML: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547664" y="3003798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r>
              <a:rPr lang="de-DE" sz="1200" dirty="0" smtClean="0"/>
              <a:t>&lt;html lang="es" xmlns:th="http://www.thymeleaf.org"&gt;</a:t>
            </a:r>
          </a:p>
          <a:p>
            <a:r>
              <a:rPr lang="en-US" sz="1200" dirty="0" smtClean="0"/>
              <a:t>   &lt;div </a:t>
            </a:r>
            <a:r>
              <a:rPr lang="en-US" sz="1200" b="1" dirty="0" err="1" smtClean="0"/>
              <a:t>th:each</a:t>
            </a:r>
            <a:r>
              <a:rPr lang="en-US" sz="1200" dirty="0" smtClean="0"/>
              <a:t>="it:${items}"&gt;</a:t>
            </a:r>
          </a:p>
          <a:p>
            <a:r>
              <a:rPr lang="en-US" sz="1200" dirty="0" smtClean="0"/>
              <a:t>   &lt;h3&gt;</a:t>
            </a:r>
          </a:p>
          <a:p>
            <a:r>
              <a:rPr lang="en-US" sz="1200" dirty="0" smtClean="0"/>
              <a:t>      &lt;a </a:t>
            </a:r>
            <a:r>
              <a:rPr lang="en-US" sz="1200" b="1" dirty="0" err="1" smtClean="0"/>
              <a:t>th:href</a:t>
            </a:r>
            <a:r>
              <a:rPr lang="en-US" sz="1200" dirty="0" smtClean="0"/>
              <a:t>="${it.url}"  </a:t>
            </a:r>
            <a:r>
              <a:rPr lang="en-US" sz="1200" b="1" dirty="0" err="1" smtClean="0"/>
              <a:t>th:text</a:t>
            </a:r>
            <a:r>
              <a:rPr lang="en-US" sz="1200" dirty="0" smtClean="0"/>
              <a:t>="${it.url}"&gt;&lt;/a&gt;&lt;</a:t>
            </a:r>
            <a:r>
              <a:rPr lang="en-US" sz="1200" dirty="0" err="1" smtClean="0"/>
              <a:t>br</a:t>
            </a:r>
            <a:r>
              <a:rPr lang="en-US" sz="1200" dirty="0" smtClean="0"/>
              <a:t>&gt;</a:t>
            </a:r>
          </a:p>
          <a:p>
            <a:endParaRPr lang="de-DE" sz="1200" dirty="0"/>
          </a:p>
        </p:txBody>
      </p:sp>
      <p:cxnSp>
        <p:nvCxnSpPr>
          <p:cNvPr id="10" name="9 Conector recto de flecha"/>
          <p:cNvCxnSpPr/>
          <p:nvPr/>
        </p:nvCxnSpPr>
        <p:spPr>
          <a:xfrm flipH="1">
            <a:off x="4283968" y="2787774"/>
            <a:ext cx="648072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932040" y="2643758"/>
            <a:ext cx="2664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 smtClean="0"/>
              <a:t>Namespace</a:t>
            </a:r>
            <a:r>
              <a:rPr lang="es-ES" sz="1000" dirty="0" smtClean="0"/>
              <a:t> </a:t>
            </a:r>
            <a:r>
              <a:rPr lang="es-ES" sz="1000" dirty="0" err="1" smtClean="0"/>
              <a:t>thymeleaf</a:t>
            </a:r>
            <a:endParaRPr lang="es-ES" sz="1000" dirty="0"/>
          </a:p>
        </p:txBody>
      </p:sp>
      <p:cxnSp>
        <p:nvCxnSpPr>
          <p:cNvPr id="14" name="13 Conector recto de flecha"/>
          <p:cNvCxnSpPr/>
          <p:nvPr/>
        </p:nvCxnSpPr>
        <p:spPr>
          <a:xfrm flipH="1" flipV="1">
            <a:off x="2555776" y="3723878"/>
            <a:ext cx="1008112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flipH="1" flipV="1">
            <a:off x="2627784" y="3363838"/>
            <a:ext cx="93610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 flipV="1">
            <a:off x="3563888" y="3795886"/>
            <a:ext cx="216024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3301123" y="431939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 smtClean="0"/>
              <a:t>tags</a:t>
            </a:r>
            <a:endParaRPr lang="es-E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Dependencias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thymeleaf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67544" y="843558"/>
            <a:ext cx="8496944" cy="122413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Para utilizar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thymeleaf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se requieren las siguientes dependencias: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 Spring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Boot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se utiliza el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starter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899592" y="1347614"/>
            <a:ext cx="457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r>
              <a:rPr lang="es-ES" sz="1200" dirty="0" smtClean="0"/>
              <a:t> &lt;</a:t>
            </a:r>
            <a:r>
              <a:rPr lang="es-ES" sz="1200" dirty="0" err="1" smtClean="0"/>
              <a:t>dependency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groupId</a:t>
            </a:r>
            <a:r>
              <a:rPr lang="es-ES" sz="1200" dirty="0" smtClean="0"/>
              <a:t>&gt;</a:t>
            </a:r>
            <a:r>
              <a:rPr lang="es-ES" sz="1200" dirty="0" err="1" smtClean="0"/>
              <a:t>org.thymeleaf</a:t>
            </a:r>
            <a:r>
              <a:rPr lang="es-ES" sz="1200" dirty="0" smtClean="0"/>
              <a:t>&lt;/</a:t>
            </a:r>
            <a:r>
              <a:rPr lang="es-ES" sz="1200" dirty="0" err="1" smtClean="0"/>
              <a:t>groupId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artifactId</a:t>
            </a:r>
            <a:r>
              <a:rPr lang="es-ES" sz="1200" dirty="0" smtClean="0"/>
              <a:t>&gt;</a:t>
            </a:r>
            <a:r>
              <a:rPr lang="es-ES" sz="1200" dirty="0" err="1" smtClean="0"/>
              <a:t>thymeleaf</a:t>
            </a:r>
            <a:r>
              <a:rPr lang="es-ES" sz="1200" dirty="0" smtClean="0"/>
              <a:t>&lt;/</a:t>
            </a:r>
            <a:r>
              <a:rPr lang="es-ES" sz="1200" dirty="0" err="1" smtClean="0"/>
              <a:t>artifactId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version</a:t>
            </a:r>
            <a:r>
              <a:rPr lang="es-ES" sz="1200" dirty="0" smtClean="0"/>
              <a:t>&gt;${</a:t>
            </a:r>
            <a:r>
              <a:rPr lang="es-ES" sz="1200" dirty="0" err="1" smtClean="0"/>
              <a:t>thymeleaf.version</a:t>
            </a:r>
            <a:r>
              <a:rPr lang="es-ES" sz="1200" dirty="0" smtClean="0"/>
              <a:t>}&lt;/</a:t>
            </a:r>
            <a:r>
              <a:rPr lang="es-ES" sz="1200" dirty="0" err="1" smtClean="0"/>
              <a:t>version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&lt;/</a:t>
            </a:r>
            <a:r>
              <a:rPr lang="es-ES" sz="1200" dirty="0" err="1" smtClean="0"/>
              <a:t>dependency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&lt;</a:t>
            </a:r>
            <a:r>
              <a:rPr lang="es-ES" sz="1200" dirty="0" err="1" smtClean="0"/>
              <a:t>dependency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groupId</a:t>
            </a:r>
            <a:r>
              <a:rPr lang="es-ES" sz="1200" dirty="0" smtClean="0"/>
              <a:t>&gt;</a:t>
            </a:r>
            <a:r>
              <a:rPr lang="es-ES" sz="1200" dirty="0" err="1" smtClean="0"/>
              <a:t>org.thymeleaf</a:t>
            </a:r>
            <a:r>
              <a:rPr lang="es-ES" sz="1200" dirty="0" smtClean="0"/>
              <a:t>&lt;/</a:t>
            </a:r>
            <a:r>
              <a:rPr lang="es-ES" sz="1200" dirty="0" err="1" smtClean="0"/>
              <a:t>groupId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artifactId</a:t>
            </a:r>
            <a:r>
              <a:rPr lang="es-ES" sz="1200" dirty="0" smtClean="0"/>
              <a:t>&gt;thymeleaf-spring5&lt;/</a:t>
            </a:r>
            <a:r>
              <a:rPr lang="es-ES" sz="1200" dirty="0" err="1" smtClean="0"/>
              <a:t>artifactId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    &lt;</a:t>
            </a:r>
            <a:r>
              <a:rPr lang="es-ES" sz="1200" dirty="0" err="1" smtClean="0"/>
              <a:t>version</a:t>
            </a:r>
            <a:r>
              <a:rPr lang="es-ES" sz="1200" dirty="0" smtClean="0"/>
              <a:t>&gt;${</a:t>
            </a:r>
            <a:r>
              <a:rPr lang="es-ES" sz="1200" dirty="0" err="1" smtClean="0"/>
              <a:t>thymeleaf.version</a:t>
            </a:r>
            <a:r>
              <a:rPr lang="es-ES" sz="1200" dirty="0" smtClean="0"/>
              <a:t>}&lt;/</a:t>
            </a:r>
            <a:r>
              <a:rPr lang="es-ES" sz="1200" dirty="0" err="1" smtClean="0"/>
              <a:t>version</a:t>
            </a:r>
            <a:r>
              <a:rPr lang="es-ES" sz="1200" dirty="0" smtClean="0"/>
              <a:t>&gt;</a:t>
            </a:r>
          </a:p>
          <a:p>
            <a:r>
              <a:rPr lang="es-ES" sz="1200" dirty="0" smtClean="0"/>
              <a:t>    &lt;/</a:t>
            </a:r>
            <a:r>
              <a:rPr lang="es-ES" sz="1200" dirty="0" err="1" smtClean="0"/>
              <a:t>dependency</a:t>
            </a:r>
            <a:r>
              <a:rPr lang="es-ES" sz="1200" dirty="0" smtClean="0"/>
              <a:t>&gt;</a:t>
            </a:r>
            <a:endParaRPr lang="es-ES" sz="1200" dirty="0"/>
          </a:p>
        </p:txBody>
      </p:sp>
      <p:sp>
        <p:nvSpPr>
          <p:cNvPr id="15" name="14 Rectángulo"/>
          <p:cNvSpPr/>
          <p:nvPr/>
        </p:nvSpPr>
        <p:spPr>
          <a:xfrm>
            <a:off x="899592" y="3867894"/>
            <a:ext cx="6336704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400" dirty="0" smtClean="0"/>
              <a:t>&lt;</a:t>
            </a:r>
            <a:r>
              <a:rPr lang="es-ES" sz="1400" dirty="0" err="1" smtClean="0"/>
              <a:t>dependency</a:t>
            </a:r>
            <a:r>
              <a:rPr lang="es-ES" sz="1400" dirty="0" smtClean="0"/>
              <a:t>&gt;</a:t>
            </a:r>
          </a:p>
          <a:p>
            <a:r>
              <a:rPr lang="es-ES" sz="1400" dirty="0" smtClean="0"/>
              <a:t>    &lt;</a:t>
            </a:r>
            <a:r>
              <a:rPr lang="es-ES" sz="1400" dirty="0" err="1" smtClean="0"/>
              <a:t>groupId</a:t>
            </a:r>
            <a:r>
              <a:rPr lang="es-ES" sz="1400" dirty="0" smtClean="0"/>
              <a:t>&gt;</a:t>
            </a:r>
            <a:r>
              <a:rPr lang="es-ES" sz="1400" dirty="0" err="1" smtClean="0"/>
              <a:t>org.springframework.boot</a:t>
            </a:r>
            <a:r>
              <a:rPr lang="es-ES" sz="1400" dirty="0" smtClean="0"/>
              <a:t>&lt;/</a:t>
            </a:r>
            <a:r>
              <a:rPr lang="es-ES" sz="1400" dirty="0" err="1" smtClean="0"/>
              <a:t>groupId</a:t>
            </a:r>
            <a:r>
              <a:rPr lang="es-ES" sz="1400" dirty="0" smtClean="0"/>
              <a:t>&gt;</a:t>
            </a:r>
          </a:p>
          <a:p>
            <a:r>
              <a:rPr lang="es-ES" sz="1400" dirty="0" smtClean="0"/>
              <a:t>    &lt;</a:t>
            </a:r>
            <a:r>
              <a:rPr lang="es-ES" sz="1400" dirty="0" err="1" smtClean="0"/>
              <a:t>artifactId</a:t>
            </a:r>
            <a:r>
              <a:rPr lang="es-ES" sz="1400" dirty="0" smtClean="0"/>
              <a:t>&gt;</a:t>
            </a:r>
            <a:r>
              <a:rPr lang="es-ES" sz="1400" dirty="0" err="1" smtClean="0"/>
              <a:t>spring-boot-starter-thymeleaf</a:t>
            </a:r>
            <a:r>
              <a:rPr lang="es-ES" sz="1400" dirty="0" smtClean="0"/>
              <a:t>&lt;/</a:t>
            </a:r>
            <a:r>
              <a:rPr lang="es-ES" sz="1400" dirty="0" err="1" smtClean="0"/>
              <a:t>artifactId</a:t>
            </a:r>
            <a:r>
              <a:rPr lang="es-ES" sz="1400" dirty="0" smtClean="0"/>
              <a:t>&gt;</a:t>
            </a:r>
          </a:p>
          <a:p>
            <a:r>
              <a:rPr lang="es-ES" sz="1400" dirty="0" smtClean="0"/>
              <a:t>&lt;/</a:t>
            </a:r>
            <a:r>
              <a:rPr lang="es-ES" sz="1400" dirty="0" err="1" smtClean="0"/>
              <a:t>dependency</a:t>
            </a:r>
            <a:r>
              <a:rPr lang="es-ES" sz="1400" dirty="0" smtClean="0"/>
              <a:t>&gt;</a:t>
            </a:r>
            <a:endParaRPr lang="es-E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467544" y="195486"/>
            <a:ext cx="8280920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Configuración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thymeleaf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67544" y="843558"/>
            <a:ext cx="8496944" cy="122413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 aplicaciones sin Spring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Boot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: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 Spring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Boot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configuración por defecto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14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899592" y="1302219"/>
            <a:ext cx="5040560" cy="2923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800" dirty="0" smtClean="0"/>
              <a:t> @</a:t>
            </a:r>
            <a:r>
              <a:rPr lang="es-ES" sz="800" dirty="0" err="1" smtClean="0"/>
              <a:t>Bean</a:t>
            </a:r>
            <a:endParaRPr lang="es-ES" sz="800" dirty="0" smtClean="0"/>
          </a:p>
          <a:p>
            <a:r>
              <a:rPr lang="es-ES" sz="800" dirty="0" err="1" smtClean="0"/>
              <a:t>public</a:t>
            </a:r>
            <a:r>
              <a:rPr lang="es-ES" sz="800" dirty="0" smtClean="0"/>
              <a:t> </a:t>
            </a:r>
            <a:r>
              <a:rPr lang="es-ES" sz="800" dirty="0" err="1" smtClean="0"/>
              <a:t>SpringResourceTemplateResolver</a:t>
            </a:r>
            <a:r>
              <a:rPr lang="es-ES" sz="800" dirty="0" smtClean="0"/>
              <a:t> </a:t>
            </a:r>
            <a:r>
              <a:rPr lang="es-ES" sz="800" dirty="0" err="1" smtClean="0"/>
              <a:t>templateResolver</a:t>
            </a:r>
            <a:r>
              <a:rPr lang="es-ES" sz="800" dirty="0" smtClean="0"/>
              <a:t>(){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SpringResourceTemplateResolver</a:t>
            </a:r>
            <a:r>
              <a:rPr lang="es-ES" sz="800" dirty="0" smtClean="0"/>
              <a:t> </a:t>
            </a:r>
            <a:r>
              <a:rPr lang="es-ES" sz="800" dirty="0" err="1" smtClean="0"/>
              <a:t>templateResolver</a:t>
            </a:r>
            <a:r>
              <a:rPr lang="es-ES" sz="800" dirty="0" smtClean="0"/>
              <a:t> = new </a:t>
            </a:r>
            <a:r>
              <a:rPr lang="es-ES" sz="800" dirty="0" err="1" smtClean="0"/>
              <a:t>SpringResourceTemplateResolver</a:t>
            </a:r>
            <a:r>
              <a:rPr lang="es-ES" sz="800" dirty="0" smtClean="0"/>
              <a:t>();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templateResolver.setApplicationContext</a:t>
            </a:r>
            <a:r>
              <a:rPr lang="es-ES" sz="800" dirty="0" smtClean="0"/>
              <a:t>(</a:t>
            </a:r>
            <a:r>
              <a:rPr lang="es-ES" sz="800" dirty="0" err="1" smtClean="0"/>
              <a:t>this.applicationContext</a:t>
            </a:r>
            <a:r>
              <a:rPr lang="es-ES" sz="800" dirty="0" smtClean="0"/>
              <a:t>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templateResolver.setPrefix</a:t>
            </a:r>
            <a:r>
              <a:rPr lang="es-ES" sz="800" dirty="0" smtClean="0"/>
              <a:t>("/");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templateResolver.setSuffix</a:t>
            </a:r>
            <a:r>
              <a:rPr lang="es-ES" sz="800" dirty="0" smtClean="0"/>
              <a:t>(".</a:t>
            </a:r>
            <a:r>
              <a:rPr lang="es-ES" sz="800" dirty="0" err="1" smtClean="0"/>
              <a:t>html</a:t>
            </a:r>
            <a:r>
              <a:rPr lang="es-ES" sz="800" dirty="0" smtClean="0"/>
              <a:t>");</a:t>
            </a:r>
          </a:p>
          <a:p>
            <a:r>
              <a:rPr lang="es-ES" sz="800" dirty="0" smtClean="0"/>
              <a:t>    // HTML es la plantilla por defecto, se indica por claridad.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templateResolver.setTemplateMode</a:t>
            </a:r>
            <a:r>
              <a:rPr lang="es-ES" sz="800" dirty="0" smtClean="0"/>
              <a:t>(TemplateMode.HTML);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return</a:t>
            </a:r>
            <a:r>
              <a:rPr lang="es-ES" sz="800" dirty="0" smtClean="0"/>
              <a:t> </a:t>
            </a:r>
            <a:r>
              <a:rPr lang="es-ES" sz="800" dirty="0" err="1" smtClean="0"/>
              <a:t>templateResolver</a:t>
            </a:r>
            <a:r>
              <a:rPr lang="es-ES" sz="800" dirty="0" smtClean="0"/>
              <a:t>;</a:t>
            </a:r>
          </a:p>
          <a:p>
            <a:r>
              <a:rPr lang="es-ES" sz="800" dirty="0" smtClean="0"/>
              <a:t>}</a:t>
            </a:r>
          </a:p>
          <a:p>
            <a:r>
              <a:rPr lang="es-ES" sz="800" dirty="0" smtClean="0"/>
              <a:t>@</a:t>
            </a:r>
            <a:r>
              <a:rPr lang="es-ES" sz="800" dirty="0" err="1" smtClean="0"/>
              <a:t>Bean</a:t>
            </a:r>
            <a:endParaRPr lang="es-ES" sz="800" dirty="0" smtClean="0"/>
          </a:p>
          <a:p>
            <a:r>
              <a:rPr lang="es-ES" sz="800" dirty="0" err="1" smtClean="0"/>
              <a:t>public</a:t>
            </a:r>
            <a:r>
              <a:rPr lang="es-ES" sz="800" dirty="0" smtClean="0"/>
              <a:t> </a:t>
            </a:r>
            <a:r>
              <a:rPr lang="es-ES" sz="800" dirty="0" err="1" smtClean="0"/>
              <a:t>SpringTemplateEngine</a:t>
            </a:r>
            <a:r>
              <a:rPr lang="es-ES" sz="800" dirty="0" smtClean="0"/>
              <a:t> </a:t>
            </a:r>
            <a:r>
              <a:rPr lang="es-ES" sz="800" dirty="0" err="1" smtClean="0"/>
              <a:t>templateEngine</a:t>
            </a:r>
            <a:r>
              <a:rPr lang="es-ES" sz="800" dirty="0" smtClean="0"/>
              <a:t>(){           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SpringTemplateEngine</a:t>
            </a:r>
            <a:r>
              <a:rPr lang="es-ES" sz="800" dirty="0" smtClean="0"/>
              <a:t> </a:t>
            </a:r>
            <a:r>
              <a:rPr lang="es-ES" sz="800" dirty="0" err="1" smtClean="0"/>
              <a:t>templateEngine</a:t>
            </a:r>
            <a:r>
              <a:rPr lang="es-ES" sz="800" dirty="0" smtClean="0"/>
              <a:t> = new </a:t>
            </a:r>
            <a:r>
              <a:rPr lang="es-ES" sz="800" dirty="0" err="1" smtClean="0"/>
              <a:t>SpringTemplateEngine</a:t>
            </a:r>
            <a:r>
              <a:rPr lang="es-ES" sz="800" dirty="0" smtClean="0"/>
              <a:t>();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templateEngine.setTemplateResolver</a:t>
            </a:r>
            <a:r>
              <a:rPr lang="es-ES" sz="800" dirty="0" smtClean="0"/>
              <a:t>(</a:t>
            </a:r>
            <a:r>
              <a:rPr lang="es-ES" sz="800" dirty="0" err="1" smtClean="0"/>
              <a:t>templateResolver</a:t>
            </a:r>
            <a:r>
              <a:rPr lang="es-ES" sz="800" dirty="0" smtClean="0"/>
              <a:t>());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templateEngine.setEnableSpringELCompiler</a:t>
            </a:r>
            <a:r>
              <a:rPr lang="es-ES" sz="800" dirty="0" smtClean="0"/>
              <a:t>(true);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return</a:t>
            </a:r>
            <a:r>
              <a:rPr lang="es-ES" sz="800" dirty="0" smtClean="0"/>
              <a:t> </a:t>
            </a:r>
            <a:r>
              <a:rPr lang="es-ES" sz="800" dirty="0" err="1" smtClean="0"/>
              <a:t>templateEngine</a:t>
            </a:r>
            <a:r>
              <a:rPr lang="es-ES" sz="800" dirty="0" smtClean="0"/>
              <a:t>;</a:t>
            </a:r>
          </a:p>
          <a:p>
            <a:r>
              <a:rPr lang="es-ES" sz="800" dirty="0" smtClean="0"/>
              <a:t>}</a:t>
            </a:r>
          </a:p>
          <a:p>
            <a:r>
              <a:rPr lang="es-ES" sz="800" dirty="0" smtClean="0"/>
              <a:t>@</a:t>
            </a:r>
            <a:r>
              <a:rPr lang="es-ES" sz="800" dirty="0" err="1" smtClean="0"/>
              <a:t>Bean</a:t>
            </a:r>
            <a:endParaRPr lang="es-ES" sz="800" dirty="0" smtClean="0"/>
          </a:p>
          <a:p>
            <a:r>
              <a:rPr lang="es-ES" sz="800" dirty="0" err="1" smtClean="0"/>
              <a:t>public</a:t>
            </a:r>
            <a:r>
              <a:rPr lang="es-ES" sz="800" dirty="0" smtClean="0"/>
              <a:t> </a:t>
            </a:r>
            <a:r>
              <a:rPr lang="es-ES" sz="800" dirty="0" err="1" smtClean="0"/>
              <a:t>ThymeleafViewResolver</a:t>
            </a:r>
            <a:r>
              <a:rPr lang="es-ES" sz="800" dirty="0" smtClean="0"/>
              <a:t> </a:t>
            </a:r>
            <a:r>
              <a:rPr lang="es-ES" sz="800" dirty="0" err="1" smtClean="0"/>
              <a:t>viewResolver</a:t>
            </a:r>
            <a:r>
              <a:rPr lang="es-ES" sz="800" dirty="0" smtClean="0"/>
              <a:t>(){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ThymeleafViewResolver</a:t>
            </a:r>
            <a:r>
              <a:rPr lang="es-ES" sz="800" dirty="0" smtClean="0"/>
              <a:t> </a:t>
            </a:r>
            <a:r>
              <a:rPr lang="es-ES" sz="800" dirty="0" err="1" smtClean="0"/>
              <a:t>viewResolver</a:t>
            </a:r>
            <a:r>
              <a:rPr lang="es-ES" sz="800" dirty="0" smtClean="0"/>
              <a:t> = new </a:t>
            </a:r>
            <a:r>
              <a:rPr lang="es-ES" sz="800" dirty="0" err="1" smtClean="0"/>
              <a:t>ThymeleafViewResolver</a:t>
            </a:r>
            <a:r>
              <a:rPr lang="es-ES" sz="800" dirty="0" smtClean="0"/>
              <a:t>();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viewResolver.setTemplateEngine</a:t>
            </a:r>
            <a:r>
              <a:rPr lang="es-ES" sz="800" dirty="0" smtClean="0"/>
              <a:t>(</a:t>
            </a:r>
            <a:r>
              <a:rPr lang="es-ES" sz="800" dirty="0" err="1" smtClean="0"/>
              <a:t>templateEngine</a:t>
            </a:r>
            <a:r>
              <a:rPr lang="es-ES" sz="800" dirty="0" smtClean="0"/>
              <a:t>());</a:t>
            </a:r>
          </a:p>
          <a:p>
            <a:r>
              <a:rPr lang="es-ES" sz="800" dirty="0" smtClean="0"/>
              <a:t>    </a:t>
            </a:r>
            <a:r>
              <a:rPr lang="es-ES" sz="800" dirty="0" err="1" smtClean="0"/>
              <a:t>return</a:t>
            </a:r>
            <a:r>
              <a:rPr lang="es-ES" sz="800" dirty="0" smtClean="0"/>
              <a:t> </a:t>
            </a:r>
            <a:r>
              <a:rPr lang="es-ES" sz="800" dirty="0" err="1" smtClean="0"/>
              <a:t>viewResolver</a:t>
            </a:r>
            <a:r>
              <a:rPr lang="es-ES" sz="800" dirty="0" smtClean="0"/>
              <a:t>;</a:t>
            </a:r>
          </a:p>
          <a:p>
            <a:r>
              <a:rPr lang="es-ES" sz="800" dirty="0" smtClean="0"/>
              <a:t>}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17559</TotalTime>
  <Words>1189</Words>
  <Application>Microsoft Office PowerPoint</Application>
  <PresentationFormat>Presentación en pantalla (16:9)</PresentationFormat>
  <Paragraphs>327</Paragraphs>
  <Slides>26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Concurrencia</vt:lpstr>
      <vt:lpstr>Aplicaciones Web con Spring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El modelo en Spring</vt:lpstr>
      <vt:lpstr>Diapositiva 13</vt:lpstr>
      <vt:lpstr>Diapositiva 14</vt:lpstr>
      <vt:lpstr>El controlador en Spring</vt:lpstr>
      <vt:lpstr>Diapositiva 16</vt:lpstr>
      <vt:lpstr>Diapositiva 17</vt:lpstr>
      <vt:lpstr>Diapositiva 18</vt:lpstr>
      <vt:lpstr>Diapositiva 19</vt:lpstr>
      <vt:lpstr>Vistas con Spring</vt:lpstr>
      <vt:lpstr>Diapositiva 21</vt:lpstr>
      <vt:lpstr>Diapositiva 22</vt:lpstr>
      <vt:lpstr>Diapositiva 23</vt:lpstr>
      <vt:lpstr>Diapositiva 24</vt:lpstr>
      <vt:lpstr>Diapositiva 25</vt:lpstr>
      <vt:lpstr>Diapositiva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AngularJS 2</dc:title>
  <dc:creator>antonio martin</dc:creator>
  <cp:lastModifiedBy>Antonio</cp:lastModifiedBy>
  <cp:revision>171</cp:revision>
  <dcterms:created xsi:type="dcterms:W3CDTF">2016-05-07T10:27:15Z</dcterms:created>
  <dcterms:modified xsi:type="dcterms:W3CDTF">2026-02-24T11:46:05Z</dcterms:modified>
</cp:coreProperties>
</file>